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7"/>
  </p:notesMasterIdLst>
  <p:sldIdLst>
    <p:sldId id="259" r:id="rId4"/>
    <p:sldId id="271" r:id="rId5"/>
    <p:sldId id="261" r:id="rId6"/>
    <p:sldId id="272" r:id="rId8"/>
    <p:sldId id="273" r:id="rId9"/>
    <p:sldId id="264" r:id="rId10"/>
    <p:sldId id="274" r:id="rId11"/>
    <p:sldId id="266" r:id="rId12"/>
    <p:sldId id="267" r:id="rId13"/>
    <p:sldId id="268" r:id="rId14"/>
    <p:sldId id="275" r:id="rId15"/>
    <p:sldId id="276" r:id="rId16"/>
    <p:sldId id="277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52BA"/>
    <a:srgbClr val="C60A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7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Image Source: https://www.esotericmeanings.com/wp-content/uploads/2016/02/david-and-goliath.jpg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>
                <a:sym typeface="+mn-ea"/>
              </a:rPr>
              <a:t>Boyd, P.-J. (2019, February 19). </a:t>
            </a:r>
            <a:r>
              <a:rPr lang="en-US" altLang="zh-CN" i="1">
                <a:sym typeface="+mn-ea"/>
              </a:rPr>
              <a:t>How Long Does a News Story Last?</a:t>
            </a:r>
            <a:r>
              <a:rPr lang="en-US" altLang="zh-CN">
                <a:sym typeface="+mn-ea"/>
              </a:rPr>
              <a:t>. Vuelio. https://www.vuelio.com/uk/blog/how-long-does-a-news-story-last/</a:t>
            </a:r>
            <a:endParaRPr lang="en-US" altLang="zh-CN"/>
          </a:p>
          <a:p>
            <a:r>
              <a:rPr lang="en-US" altLang="zh-CN">
                <a:sym typeface="+mn-ea"/>
              </a:rPr>
              <a:t>Jiang, T., &amp; Zeng, Q. (2023). </a:t>
            </a:r>
            <a:r>
              <a:rPr lang="en-US" altLang="zh-CN" i="1">
                <a:sym typeface="+mn-ea"/>
              </a:rPr>
              <a:t>Financial Sentiment Analysis using FinBERT with Application in Predicting Stock Movement.</a:t>
            </a:r>
            <a:r>
              <a:rPr lang="en-US" altLang="zh-CN">
                <a:sym typeface="+mn-ea"/>
              </a:rPr>
              <a:t> arXiv. https://doi.org/10.48550/arXiv.2306.02136</a:t>
            </a:r>
            <a:endParaRPr lang="en-US" altLang="zh-CN"/>
          </a:p>
          <a:p>
            <a:r>
              <a:rPr lang="en-US" altLang="zh-CN">
                <a:sym typeface="+mn-ea"/>
              </a:rPr>
              <a:t>Lundberg, S., &amp; Lee, S. (2017, May 22). </a:t>
            </a:r>
            <a:r>
              <a:rPr lang="en-US" altLang="zh-CN" i="1">
                <a:sym typeface="+mn-ea"/>
              </a:rPr>
              <a:t>A Unified Approach to Interpreting Model Predictions</a:t>
            </a:r>
            <a:r>
              <a:rPr lang="en-US" altLang="zh-CN">
                <a:sym typeface="+mn-ea"/>
              </a:rPr>
              <a:t>. Advances in Neural Information Processing Systems. https://arxiv.org/abs/1705.07874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>
                <a:sym typeface="+mn-ea"/>
              </a:rPr>
              <a:t>Image Source: </a:t>
            </a:r>
            <a:r>
              <a:rPr lang="en-US" altLang="zh-CN"/>
              <a:t>https://media.istockphoto.com/id/2007594847/photo/sisyphean-task-under-a-fiery-sky.jpg?s=612x612&amp;w=0&amp;k=20&amp;c=SEj18nvCF771LdEAU3LDaGaVkfkXPWKXnx1OZqGCumY=</a:t>
            </a:r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>
                <a:sym typeface="+mn-ea"/>
              </a:rPr>
              <a:t>Image Source: </a:t>
            </a:r>
            <a:r>
              <a:rPr lang="en-US" altLang="zh-CN"/>
              <a:t>https://t3.ftcdn.net/jpg/18/12/60/18/240_F_1812601844_PsUCri06VsFV21NgjtJwQxyFvIeqhmhy.jpg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image" Target="../media/image2.png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image" Target="../media/image3.png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image" Target="../media/image4.png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1" Type="http://schemas.openxmlformats.org/officeDocument/2006/relationships/tags" Target="../tags/tag72.xml"/><Relationship Id="rId10" Type="http://schemas.openxmlformats.org/officeDocument/2006/relationships/tags" Target="../tags/tag71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79.xml"/><Relationship Id="rId7" Type="http://schemas.openxmlformats.org/officeDocument/2006/relationships/tags" Target="../tags/tag78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image" Target="../media/image1.png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03.xml"/><Relationship Id="rId7" Type="http://schemas.openxmlformats.org/officeDocument/2006/relationships/tags" Target="../tags/tag102.xml"/><Relationship Id="rId6" Type="http://schemas.openxmlformats.org/officeDocument/2006/relationships/tags" Target="../tags/tag101.xml"/><Relationship Id="rId5" Type="http://schemas.openxmlformats.org/officeDocument/2006/relationships/image" Target="../media/image2.png"/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10.xml"/><Relationship Id="rId8" Type="http://schemas.openxmlformats.org/officeDocument/2006/relationships/tags" Target="../tags/tag109.xml"/><Relationship Id="rId7" Type="http://schemas.openxmlformats.org/officeDocument/2006/relationships/tags" Target="../tags/tag108.xml"/><Relationship Id="rId6" Type="http://schemas.openxmlformats.org/officeDocument/2006/relationships/tags" Target="../tags/tag107.xml"/><Relationship Id="rId5" Type="http://schemas.openxmlformats.org/officeDocument/2006/relationships/tags" Target="../tags/tag106.xml"/><Relationship Id="rId4" Type="http://schemas.openxmlformats.org/officeDocument/2006/relationships/image" Target="../media/image3.png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116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24.xml"/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tags" Target="../tags/tag131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140.xml"/><Relationship Id="rId5" Type="http://schemas.openxmlformats.org/officeDocument/2006/relationships/tags" Target="../tags/tag139.xml"/><Relationship Id="rId4" Type="http://schemas.openxmlformats.org/officeDocument/2006/relationships/tags" Target="../tags/tag138.xml"/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47.xml"/><Relationship Id="rId8" Type="http://schemas.openxmlformats.org/officeDocument/2006/relationships/tags" Target="../tags/tag146.xml"/><Relationship Id="rId7" Type="http://schemas.openxmlformats.org/officeDocument/2006/relationships/tags" Target="../tags/tag145.xml"/><Relationship Id="rId6" Type="http://schemas.openxmlformats.org/officeDocument/2006/relationships/tags" Target="../tags/tag144.xml"/><Relationship Id="rId5" Type="http://schemas.openxmlformats.org/officeDocument/2006/relationships/tags" Target="../tags/tag143.xml"/><Relationship Id="rId4" Type="http://schemas.openxmlformats.org/officeDocument/2006/relationships/image" Target="../media/image4.png"/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55.xml"/><Relationship Id="rId8" Type="http://schemas.openxmlformats.org/officeDocument/2006/relationships/tags" Target="../tags/tag154.xml"/><Relationship Id="rId7" Type="http://schemas.openxmlformats.org/officeDocument/2006/relationships/tags" Target="../tags/tag153.xml"/><Relationship Id="rId6" Type="http://schemas.openxmlformats.org/officeDocument/2006/relationships/tags" Target="../tags/tag152.xml"/><Relationship Id="rId5" Type="http://schemas.openxmlformats.org/officeDocument/2006/relationships/tags" Target="../tags/tag151.xml"/><Relationship Id="rId4" Type="http://schemas.openxmlformats.org/officeDocument/2006/relationships/tags" Target="../tags/tag150.xml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1" Type="http://schemas.openxmlformats.org/officeDocument/2006/relationships/tags" Target="../tags/tag157.xml"/><Relationship Id="rId10" Type="http://schemas.openxmlformats.org/officeDocument/2006/relationships/tags" Target="../tags/tag156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164.xml"/><Relationship Id="rId7" Type="http://schemas.openxmlformats.org/officeDocument/2006/relationships/tags" Target="../tags/tag163.xml"/><Relationship Id="rId6" Type="http://schemas.openxmlformats.org/officeDocument/2006/relationships/tags" Target="../tags/tag162.xml"/><Relationship Id="rId5" Type="http://schemas.openxmlformats.org/officeDocument/2006/relationships/tags" Target="../tags/tag161.xml"/><Relationship Id="rId4" Type="http://schemas.openxmlformats.org/officeDocument/2006/relationships/tags" Target="../tags/tag160.xml"/><Relationship Id="rId3" Type="http://schemas.openxmlformats.org/officeDocument/2006/relationships/tags" Target="../tags/tag159.xml"/><Relationship Id="rId2" Type="http://schemas.openxmlformats.org/officeDocument/2006/relationships/tags" Target="../tags/tag158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 userDrawn="1">
            <p:custDataLst>
              <p:tags r:id="rId2"/>
            </p:custDataLst>
          </p:nvPr>
        </p:nvSpPr>
        <p:spPr>
          <a:xfrm>
            <a:off x="6055961" y="826274"/>
            <a:ext cx="5909293" cy="5793934"/>
          </a:xfrm>
          <a:custGeom>
            <a:avLst/>
            <a:gdLst>
              <a:gd name="connsiteX0" fmla="*/ 3879682 w 5909293"/>
              <a:gd name="connsiteY0" fmla="*/ 175 h 5793934"/>
              <a:gd name="connsiteX1" fmla="*/ 4334567 w 5909293"/>
              <a:gd name="connsiteY1" fmla="*/ 60453 h 5793934"/>
              <a:gd name="connsiteX2" fmla="*/ 5246308 w 5909293"/>
              <a:gd name="connsiteY2" fmla="*/ 1122598 h 5793934"/>
              <a:gd name="connsiteX3" fmla="*/ 5872742 w 5909293"/>
              <a:gd name="connsiteY3" fmla="*/ 3288868 h 5793934"/>
              <a:gd name="connsiteX4" fmla="*/ 5819651 w 5909293"/>
              <a:gd name="connsiteY4" fmla="*/ 4125030 h 5793934"/>
              <a:gd name="connsiteX5" fmla="*/ 5157837 w 5909293"/>
              <a:gd name="connsiteY5" fmla="*/ 4912778 h 5793934"/>
              <a:gd name="connsiteX6" fmla="*/ 3379536 w 5909293"/>
              <a:gd name="connsiteY6" fmla="*/ 5735681 h 5793934"/>
              <a:gd name="connsiteX7" fmla="*/ 2078353 w 5909293"/>
              <a:gd name="connsiteY7" fmla="*/ 5726438 h 5793934"/>
              <a:gd name="connsiteX8" fmla="*/ 1489530 w 5909293"/>
              <a:gd name="connsiteY8" fmla="*/ 5363600 h 5793934"/>
              <a:gd name="connsiteX9" fmla="*/ 1035251 w 5909293"/>
              <a:gd name="connsiteY9" fmla="*/ 4220617 h 5793934"/>
              <a:gd name="connsiteX10" fmla="*/ 602247 w 5909293"/>
              <a:gd name="connsiteY10" fmla="*/ 3634929 h 5793934"/>
              <a:gd name="connsiteX11" fmla="*/ 169546 w 5909293"/>
              <a:gd name="connsiteY11" fmla="*/ 2942699 h 5793934"/>
              <a:gd name="connsiteX12" fmla="*/ 652478 w 5909293"/>
              <a:gd name="connsiteY12" fmla="*/ 842508 h 5793934"/>
              <a:gd name="connsiteX13" fmla="*/ 1316613 w 5909293"/>
              <a:gd name="connsiteY13" fmla="*/ 445895 h 5793934"/>
              <a:gd name="connsiteX14" fmla="*/ 1375567 w 5909293"/>
              <a:gd name="connsiteY14" fmla="*/ 424437 h 5793934"/>
              <a:gd name="connsiteX15" fmla="*/ 3408460 w 5909293"/>
              <a:gd name="connsiteY15" fmla="*/ 39296 h 5793934"/>
              <a:gd name="connsiteX16" fmla="*/ 3879682 w 5909293"/>
              <a:gd name="connsiteY16" fmla="*/ 175 h 5793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909293" h="5793934">
                <a:moveTo>
                  <a:pt x="3879682" y="175"/>
                </a:moveTo>
                <a:cubicBezTo>
                  <a:pt x="4036099" y="-1809"/>
                  <a:pt x="4189792" y="12773"/>
                  <a:pt x="4334567" y="60453"/>
                </a:cubicBezTo>
                <a:cubicBezTo>
                  <a:pt x="4813657" y="215756"/>
                  <a:pt x="5066087" y="681130"/>
                  <a:pt x="5246308" y="1122598"/>
                </a:cubicBezTo>
                <a:cubicBezTo>
                  <a:pt x="5530593" y="1818660"/>
                  <a:pt x="5740779" y="2546018"/>
                  <a:pt x="5872742" y="3288868"/>
                </a:cubicBezTo>
                <a:cubicBezTo>
                  <a:pt x="5918136" y="3538857"/>
                  <a:pt x="5941127" y="3794404"/>
                  <a:pt x="5819651" y="4125030"/>
                </a:cubicBezTo>
                <a:cubicBezTo>
                  <a:pt x="5698175" y="4455657"/>
                  <a:pt x="5555500" y="4602769"/>
                  <a:pt x="5157837" y="4912778"/>
                </a:cubicBezTo>
                <a:cubicBezTo>
                  <a:pt x="4760174" y="5222787"/>
                  <a:pt x="3749504" y="5653807"/>
                  <a:pt x="3379536" y="5735681"/>
                </a:cubicBezTo>
                <a:cubicBezTo>
                  <a:pt x="3009569" y="5817556"/>
                  <a:pt x="2330918" y="5811898"/>
                  <a:pt x="2078353" y="5726438"/>
                </a:cubicBezTo>
                <a:cubicBezTo>
                  <a:pt x="1825789" y="5640979"/>
                  <a:pt x="1633575" y="5511056"/>
                  <a:pt x="1489530" y="5363600"/>
                </a:cubicBezTo>
                <a:cubicBezTo>
                  <a:pt x="1194462" y="5065173"/>
                  <a:pt x="1220104" y="4592041"/>
                  <a:pt x="1035251" y="4220617"/>
                </a:cubicBezTo>
                <a:cubicBezTo>
                  <a:pt x="929927" y="4002824"/>
                  <a:pt x="753122" y="3825759"/>
                  <a:pt x="602247" y="3634929"/>
                </a:cubicBezTo>
                <a:cubicBezTo>
                  <a:pt x="430739" y="3418728"/>
                  <a:pt x="291908" y="3187171"/>
                  <a:pt x="169546" y="2942699"/>
                </a:cubicBezTo>
                <a:cubicBezTo>
                  <a:pt x="-176217" y="2249976"/>
                  <a:pt x="17688" y="1398039"/>
                  <a:pt x="652478" y="842508"/>
                </a:cubicBezTo>
                <a:cubicBezTo>
                  <a:pt x="844971" y="671207"/>
                  <a:pt x="1070014" y="535650"/>
                  <a:pt x="1316613" y="445895"/>
                </a:cubicBezTo>
                <a:cubicBezTo>
                  <a:pt x="1336025" y="438830"/>
                  <a:pt x="1354717" y="432026"/>
                  <a:pt x="1375567" y="424437"/>
                </a:cubicBezTo>
                <a:cubicBezTo>
                  <a:pt x="2029851" y="208795"/>
                  <a:pt x="2725822" y="123350"/>
                  <a:pt x="3408460" y="39296"/>
                </a:cubicBezTo>
                <a:cubicBezTo>
                  <a:pt x="3564127" y="20711"/>
                  <a:pt x="3723266" y="2160"/>
                  <a:pt x="3879682" y="17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27" name="图片 26" descr="无人机5资源 1@600x-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434330" y="1677670"/>
            <a:ext cx="6643370" cy="51803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702945" y="1304926"/>
            <a:ext cx="5393055" cy="2152650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01675" y="3740150"/>
            <a:ext cx="2880995" cy="58039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r>
              <a:rPr lang="zh-CN" altLang="en-US" dirty="0"/>
              <a:t>汇报人：</a:t>
            </a:r>
            <a:r>
              <a:rPr lang="en-US" altLang="zh-CN" dirty="0"/>
              <a:t>WPS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8"/>
            <p:custDataLst>
              <p:tags r:id="rId7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9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20"/>
            <p:custDataLst>
              <p:tags r:id="rId9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325" y="1276350"/>
            <a:ext cx="10799475" cy="4901565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6"/>
          <p:cNvSpPr/>
          <p:nvPr>
            <p:custDataLst>
              <p:tags r:id="rId2"/>
            </p:custDataLst>
          </p:nvPr>
        </p:nvSpPr>
        <p:spPr bwMode="auto">
          <a:xfrm>
            <a:off x="837565" y="3313430"/>
            <a:ext cx="3971925" cy="3523615"/>
          </a:xfrm>
          <a:custGeom>
            <a:avLst/>
            <a:gdLst>
              <a:gd name="T0" fmla="*/ 1557 w 2458"/>
              <a:gd name="T1" fmla="*/ 0 h 2180"/>
              <a:gd name="T2" fmla="*/ 1529 w 2458"/>
              <a:gd name="T3" fmla="*/ 0 h 2180"/>
              <a:gd name="T4" fmla="*/ 618 w 2458"/>
              <a:gd name="T5" fmla="*/ 140 h 2180"/>
              <a:gd name="T6" fmla="*/ 233 w 2458"/>
              <a:gd name="T7" fmla="*/ 281 h 2180"/>
              <a:gd name="T8" fmla="*/ 13 w 2458"/>
              <a:gd name="T9" fmla="*/ 831 h 2180"/>
              <a:gd name="T10" fmla="*/ 81 w 2458"/>
              <a:gd name="T11" fmla="*/ 1775 h 2180"/>
              <a:gd name="T12" fmla="*/ 215 w 2458"/>
              <a:gd name="T13" fmla="*/ 2066 h 2180"/>
              <a:gd name="T14" fmla="*/ 645 w 2458"/>
              <a:gd name="T15" fmla="*/ 2180 h 2180"/>
              <a:gd name="T16" fmla="*/ 1805 w 2458"/>
              <a:gd name="T17" fmla="*/ 2180 h 2180"/>
              <a:gd name="T18" fmla="*/ 2036 w 2458"/>
              <a:gd name="T19" fmla="*/ 2135 h 2180"/>
              <a:gd name="T20" fmla="*/ 2235 w 2458"/>
              <a:gd name="T21" fmla="*/ 1964 h 2180"/>
              <a:gd name="T22" fmla="*/ 2251 w 2458"/>
              <a:gd name="T23" fmla="*/ 1448 h 2180"/>
              <a:gd name="T24" fmla="*/ 2343 w 2458"/>
              <a:gd name="T25" fmla="*/ 1155 h 2180"/>
              <a:gd name="T26" fmla="*/ 2419 w 2458"/>
              <a:gd name="T27" fmla="*/ 820 h 2180"/>
              <a:gd name="T28" fmla="*/ 1896 w 2458"/>
              <a:gd name="T29" fmla="*/ 61 h 2180"/>
              <a:gd name="T30" fmla="*/ 1557 w 2458"/>
              <a:gd name="T31" fmla="*/ 0 h 2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458" h="2180">
                <a:moveTo>
                  <a:pt x="1557" y="0"/>
                </a:moveTo>
                <a:cubicBezTo>
                  <a:pt x="1548" y="0"/>
                  <a:pt x="1539" y="0"/>
                  <a:pt x="1529" y="0"/>
                </a:cubicBezTo>
                <a:cubicBezTo>
                  <a:pt x="1222" y="9"/>
                  <a:pt x="917" y="75"/>
                  <a:pt x="618" y="140"/>
                </a:cubicBezTo>
                <a:cubicBezTo>
                  <a:pt x="482" y="170"/>
                  <a:pt x="340" y="202"/>
                  <a:pt x="233" y="281"/>
                </a:cubicBezTo>
                <a:cubicBezTo>
                  <a:pt x="56" y="411"/>
                  <a:pt x="21" y="631"/>
                  <a:pt x="13" y="831"/>
                </a:cubicBezTo>
                <a:cubicBezTo>
                  <a:pt x="0" y="1146"/>
                  <a:pt x="23" y="1463"/>
                  <a:pt x="81" y="1775"/>
                </a:cubicBezTo>
                <a:cubicBezTo>
                  <a:pt x="100" y="1880"/>
                  <a:pt x="128" y="1991"/>
                  <a:pt x="215" y="2066"/>
                </a:cubicBezTo>
                <a:cubicBezTo>
                  <a:pt x="323" y="2159"/>
                  <a:pt x="491" y="2172"/>
                  <a:pt x="645" y="2180"/>
                </a:cubicBezTo>
                <a:cubicBezTo>
                  <a:pt x="1805" y="2180"/>
                  <a:pt x="1805" y="2180"/>
                  <a:pt x="1805" y="2180"/>
                </a:cubicBezTo>
                <a:cubicBezTo>
                  <a:pt x="1884" y="2180"/>
                  <a:pt x="1963" y="2165"/>
                  <a:pt x="2036" y="2135"/>
                </a:cubicBezTo>
                <a:cubicBezTo>
                  <a:pt x="2124" y="2098"/>
                  <a:pt x="2197" y="2043"/>
                  <a:pt x="2235" y="1964"/>
                </a:cubicBezTo>
                <a:cubicBezTo>
                  <a:pt x="2313" y="1804"/>
                  <a:pt x="2230" y="1621"/>
                  <a:pt x="2251" y="1448"/>
                </a:cubicBezTo>
                <a:cubicBezTo>
                  <a:pt x="2262" y="1347"/>
                  <a:pt x="2309" y="1252"/>
                  <a:pt x="2343" y="1155"/>
                </a:cubicBezTo>
                <a:cubicBezTo>
                  <a:pt x="2382" y="1045"/>
                  <a:pt x="2405" y="934"/>
                  <a:pt x="2419" y="820"/>
                </a:cubicBezTo>
                <a:cubicBezTo>
                  <a:pt x="2458" y="497"/>
                  <a:pt x="2247" y="189"/>
                  <a:pt x="1896" y="61"/>
                </a:cubicBezTo>
                <a:cubicBezTo>
                  <a:pt x="1789" y="21"/>
                  <a:pt x="1674" y="0"/>
                  <a:pt x="1557" y="0"/>
                </a:cubicBezTo>
              </a:path>
            </a:pathLst>
          </a:custGeom>
          <a:solidFill>
            <a:schemeClr val="accent1">
              <a:alpha val="17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Microsoft YaHei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837565" y="565150"/>
            <a:ext cx="2129790" cy="1081405"/>
          </a:xfrm>
        </p:spPr>
        <p:txBody>
          <a:bodyPr wrap="square" anchor="ctr" anchorCtr="0">
            <a:normAutofit/>
          </a:bodyPr>
          <a:lstStyle>
            <a:lvl1pPr algn="l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0" r="27352"/>
          <a:stretch>
            <a:fillRect/>
          </a:stretch>
        </p:blipFill>
        <p:spPr>
          <a:xfrm>
            <a:off x="1198245" y="2017395"/>
            <a:ext cx="3556000" cy="4831715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"/>
          <p:cNvSpPr/>
          <p:nvPr userDrawn="1">
            <p:custDataLst>
              <p:tags r:id="rId2"/>
            </p:custDataLst>
          </p:nvPr>
        </p:nvSpPr>
        <p:spPr bwMode="auto">
          <a:xfrm rot="6240000" flipH="1">
            <a:off x="1155700" y="2376170"/>
            <a:ext cx="2943225" cy="3514725"/>
          </a:xfrm>
          <a:custGeom>
            <a:avLst/>
            <a:gdLst>
              <a:gd name="connsiteX0" fmla="*/ 4417 w 6611"/>
              <a:gd name="connsiteY0" fmla="*/ 31 h 6706"/>
              <a:gd name="connsiteX1" fmla="*/ 3525 w 6611"/>
              <a:gd name="connsiteY1" fmla="*/ 35 h 6706"/>
              <a:gd name="connsiteX2" fmla="*/ 1943 w 6611"/>
              <a:gd name="connsiteY2" fmla="*/ 444 h 6706"/>
              <a:gd name="connsiteX3" fmla="*/ 850 w 6611"/>
              <a:gd name="connsiteY3" fmla="*/ 1131 h 6706"/>
              <a:gd name="connsiteX4" fmla="*/ 7 w 6611"/>
              <a:gd name="connsiteY4" fmla="*/ 2491 h 6706"/>
              <a:gd name="connsiteX5" fmla="*/ 211 w 6611"/>
              <a:gd name="connsiteY5" fmla="*/ 4826 h 6706"/>
              <a:gd name="connsiteX6" fmla="*/ 752 w 6611"/>
              <a:gd name="connsiteY6" fmla="*/ 5937 h 6706"/>
              <a:gd name="connsiteX7" fmla="*/ 1926 w 6611"/>
              <a:gd name="connsiteY7" fmla="*/ 6575 h 6706"/>
              <a:gd name="connsiteX8" fmla="*/ 4060 w 6611"/>
              <a:gd name="connsiteY8" fmla="*/ 6611 h 6706"/>
              <a:gd name="connsiteX9" fmla="*/ 5547 w 6611"/>
              <a:gd name="connsiteY9" fmla="*/ 5965 h 6706"/>
              <a:gd name="connsiteX10" fmla="*/ 6120 w 6611"/>
              <a:gd name="connsiteY10" fmla="*/ 5119 h 6706"/>
              <a:gd name="connsiteX11" fmla="*/ 6193 w 6611"/>
              <a:gd name="connsiteY11" fmla="*/ 4057 h 6706"/>
              <a:gd name="connsiteX12" fmla="*/ 6398 w 6611"/>
              <a:gd name="connsiteY12" fmla="*/ 3222 h 6706"/>
              <a:gd name="connsiteX13" fmla="*/ 6599 w 6611"/>
              <a:gd name="connsiteY13" fmla="*/ 2281 h 6706"/>
              <a:gd name="connsiteX14" fmla="*/ 5278 w 6611"/>
              <a:gd name="connsiteY14" fmla="*/ 246 h 6706"/>
              <a:gd name="connsiteX15" fmla="*/ 4417 w 6611"/>
              <a:gd name="connsiteY15" fmla="*/ 31 h 6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0" t="0" r="r" b="b"/>
            <a:pathLst>
              <a:path w="6612" h="6706">
                <a:moveTo>
                  <a:pt x="4417" y="31"/>
                </a:moveTo>
                <a:cubicBezTo>
                  <a:pt x="4275" y="12"/>
                  <a:pt x="4045" y="-31"/>
                  <a:pt x="3525" y="35"/>
                </a:cubicBezTo>
                <a:cubicBezTo>
                  <a:pt x="3006" y="101"/>
                  <a:pt x="2368" y="252"/>
                  <a:pt x="1943" y="444"/>
                </a:cubicBezTo>
                <a:cubicBezTo>
                  <a:pt x="1518" y="636"/>
                  <a:pt x="1206" y="810"/>
                  <a:pt x="850" y="1131"/>
                </a:cubicBezTo>
                <a:cubicBezTo>
                  <a:pt x="494" y="1452"/>
                  <a:pt x="28" y="1938"/>
                  <a:pt x="7" y="2491"/>
                </a:cubicBezTo>
                <a:cubicBezTo>
                  <a:pt x="-27" y="3362"/>
                  <a:pt x="58" y="4271"/>
                  <a:pt x="211" y="4826"/>
                </a:cubicBezTo>
                <a:cubicBezTo>
                  <a:pt x="364" y="5381"/>
                  <a:pt x="482" y="5677"/>
                  <a:pt x="752" y="5937"/>
                </a:cubicBezTo>
                <a:cubicBezTo>
                  <a:pt x="1022" y="6197"/>
                  <a:pt x="1328" y="6417"/>
                  <a:pt x="1926" y="6575"/>
                </a:cubicBezTo>
                <a:cubicBezTo>
                  <a:pt x="2524" y="6733"/>
                  <a:pt x="3366" y="6751"/>
                  <a:pt x="4060" y="6611"/>
                </a:cubicBezTo>
                <a:cubicBezTo>
                  <a:pt x="4755" y="6471"/>
                  <a:pt x="5352" y="6115"/>
                  <a:pt x="5547" y="5965"/>
                </a:cubicBezTo>
                <a:cubicBezTo>
                  <a:pt x="5742" y="5815"/>
                  <a:pt x="6019" y="5562"/>
                  <a:pt x="6120" y="5119"/>
                </a:cubicBezTo>
                <a:cubicBezTo>
                  <a:pt x="6221" y="4677"/>
                  <a:pt x="6140" y="4535"/>
                  <a:pt x="6193" y="4057"/>
                </a:cubicBezTo>
                <a:cubicBezTo>
                  <a:pt x="6221" y="3778"/>
                  <a:pt x="6310" y="3490"/>
                  <a:pt x="6398" y="3222"/>
                </a:cubicBezTo>
                <a:cubicBezTo>
                  <a:pt x="6538" y="2812"/>
                  <a:pt x="6563" y="2596"/>
                  <a:pt x="6599" y="2281"/>
                </a:cubicBezTo>
                <a:cubicBezTo>
                  <a:pt x="6700" y="1390"/>
                  <a:pt x="6184" y="599"/>
                  <a:pt x="5278" y="246"/>
                </a:cubicBezTo>
                <a:cubicBezTo>
                  <a:pt x="5003" y="136"/>
                  <a:pt x="4559" y="50"/>
                  <a:pt x="4417" y="31"/>
                </a:cubicBezTo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Microsoft YaHei" panose="020B0503020204020204" charset="-122"/>
            </a:endParaRPr>
          </a:p>
        </p:txBody>
      </p:sp>
      <p:pic>
        <p:nvPicPr>
          <p:cNvPr id="7" name="图片 6" descr="D:\工作文件\临时素材\无人机5资源-1@600x-8.png无人机5资源-1@600x-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rcRect l="150" r="150"/>
          <a:stretch>
            <a:fillRect/>
          </a:stretch>
        </p:blipFill>
        <p:spPr>
          <a:xfrm>
            <a:off x="869950" y="1550035"/>
            <a:ext cx="3757930" cy="32626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461000" y="3408045"/>
            <a:ext cx="5892800" cy="1761490"/>
          </a:xfrm>
        </p:spPr>
        <p:txBody>
          <a:bodyPr wrap="square" lIns="0" tIns="0" rIns="0" bIns="0" anchor="t" anchorCtr="0">
            <a:normAutofit/>
          </a:bodyPr>
          <a:lstStyle>
            <a:lvl1pPr algn="l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5461000" y="2364740"/>
            <a:ext cx="5892800" cy="960120"/>
          </a:xfrm>
          <a:prstGeom prst="roundRect">
            <a:avLst>
              <a:gd name="adj" fmla="val 0"/>
            </a:avLst>
          </a:prstGeom>
          <a:noFill/>
        </p:spPr>
        <p:txBody>
          <a:bodyPr wrap="square" anchor="b" anchorCtr="0">
            <a:noAutofit/>
          </a:bodyPr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buNone/>
              <a:defRPr sz="4800" b="1" u="none" strike="noStrike" kern="1200" cap="none" spc="100" normalizeH="0">
                <a:solidFill>
                  <a:schemeClr val="accent1"/>
                </a:solidFill>
                <a:uFillTx/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编号</a:t>
            </a:r>
            <a:endParaRPr lang="zh-CN" altLang="en-US" dirty="0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4"/>
            <p:custDataLst>
              <p:tags r:id="rId7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15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6"/>
            <p:custDataLst>
              <p:tags r:id="rId9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325" y="1276350"/>
            <a:ext cx="5324475" cy="49012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276350"/>
            <a:ext cx="5322600" cy="49012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326" y="1276350"/>
            <a:ext cx="5302250" cy="463385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326" y="2061275"/>
            <a:ext cx="5302250" cy="4128388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276350"/>
            <a:ext cx="5329238" cy="463385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2061275"/>
            <a:ext cx="5329238" cy="4128388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325" y="360000"/>
            <a:ext cx="10806113" cy="581760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325" y="1296000"/>
            <a:ext cx="10806113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6217227" y="854899"/>
            <a:ext cx="5597566" cy="5917440"/>
          </a:xfrm>
          <a:custGeom>
            <a:avLst/>
            <a:gdLst>
              <a:gd name="connsiteX0" fmla="*/ 3604196 w 5597566"/>
              <a:gd name="connsiteY0" fmla="*/ 127 h 5917440"/>
              <a:gd name="connsiteX1" fmla="*/ 5020674 w 5597566"/>
              <a:gd name="connsiteY1" fmla="*/ 776538 h 5917440"/>
              <a:gd name="connsiteX2" fmla="*/ 5376373 w 5597566"/>
              <a:gd name="connsiteY2" fmla="*/ 1444944 h 5917440"/>
              <a:gd name="connsiteX3" fmla="*/ 5557177 w 5597566"/>
              <a:gd name="connsiteY3" fmla="*/ 2184215 h 5917440"/>
              <a:gd name="connsiteX4" fmla="*/ 5545132 w 5597566"/>
              <a:gd name="connsiteY4" fmla="*/ 3578297 h 5917440"/>
              <a:gd name="connsiteX5" fmla="*/ 5202018 w 5597566"/>
              <a:gd name="connsiteY5" fmla="*/ 4624938 h 5917440"/>
              <a:gd name="connsiteX6" fmla="*/ 4250176 w 5597566"/>
              <a:gd name="connsiteY6" fmla="*/ 5603523 h 5917440"/>
              <a:gd name="connsiteX7" fmla="*/ 2275095 w 5597566"/>
              <a:gd name="connsiteY7" fmla="*/ 5916586 h 5917440"/>
              <a:gd name="connsiteX8" fmla="*/ 1243715 w 5597566"/>
              <a:gd name="connsiteY8" fmla="*/ 5698027 h 5917440"/>
              <a:gd name="connsiteX9" fmla="*/ 473239 w 5597566"/>
              <a:gd name="connsiteY9" fmla="*/ 4857811 h 5917440"/>
              <a:gd name="connsiteX10" fmla="*/ 2965 w 5597566"/>
              <a:gd name="connsiteY10" fmla="*/ 3098601 h 5917440"/>
              <a:gd name="connsiteX11" fmla="*/ 230813 w 5597566"/>
              <a:gd name="connsiteY11" fmla="*/ 1734249 h 5917440"/>
              <a:gd name="connsiteX12" fmla="*/ 812883 w 5597566"/>
              <a:gd name="connsiteY12" fmla="*/ 1085274 h 5917440"/>
              <a:gd name="connsiteX13" fmla="*/ 1676967 w 5597566"/>
              <a:gd name="connsiteY13" fmla="*/ 805643 h 5917440"/>
              <a:gd name="connsiteX14" fmla="*/ 2325887 w 5597566"/>
              <a:gd name="connsiteY14" fmla="*/ 463589 h 5917440"/>
              <a:gd name="connsiteX15" fmla="*/ 3063384 w 5597566"/>
              <a:gd name="connsiteY15" fmla="*/ 102968 h 5917440"/>
              <a:gd name="connsiteX16" fmla="*/ 3604196 w 5597566"/>
              <a:gd name="connsiteY16" fmla="*/ 127 h 5917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597566" h="5917440">
                <a:moveTo>
                  <a:pt x="3604196" y="127"/>
                </a:moveTo>
                <a:cubicBezTo>
                  <a:pt x="4143157" y="-6764"/>
                  <a:pt x="4661253" y="268656"/>
                  <a:pt x="5020674" y="776538"/>
                </a:cubicBezTo>
                <a:cubicBezTo>
                  <a:pt x="5168497" y="981494"/>
                  <a:pt x="5331334" y="1331311"/>
                  <a:pt x="5376373" y="1444944"/>
                </a:cubicBezTo>
                <a:cubicBezTo>
                  <a:pt x="5421411" y="1558578"/>
                  <a:pt x="5504481" y="1740109"/>
                  <a:pt x="5557177" y="2184215"/>
                </a:cubicBezTo>
                <a:cubicBezTo>
                  <a:pt x="5609665" y="2627494"/>
                  <a:pt x="5616351" y="3186831"/>
                  <a:pt x="5545132" y="3578297"/>
                </a:cubicBezTo>
                <a:cubicBezTo>
                  <a:pt x="5473912" y="3969764"/>
                  <a:pt x="5394269" y="4263968"/>
                  <a:pt x="5202018" y="4624938"/>
                </a:cubicBezTo>
                <a:cubicBezTo>
                  <a:pt x="5009767" y="4985909"/>
                  <a:pt x="4703629" y="5471999"/>
                  <a:pt x="4250176" y="5603523"/>
                </a:cubicBezTo>
                <a:cubicBezTo>
                  <a:pt x="3536157" y="5811445"/>
                  <a:pt x="2766119" y="5928695"/>
                  <a:pt x="2275095" y="5916586"/>
                </a:cubicBezTo>
                <a:cubicBezTo>
                  <a:pt x="1784072" y="5904476"/>
                  <a:pt x="1514679" y="5867884"/>
                  <a:pt x="1243715" y="5698027"/>
                </a:cubicBezTo>
                <a:cubicBezTo>
                  <a:pt x="972750" y="5528171"/>
                  <a:pt x="727468" y="5320256"/>
                  <a:pt x="473239" y="4857811"/>
                </a:cubicBezTo>
                <a:cubicBezTo>
                  <a:pt x="219012" y="4395366"/>
                  <a:pt x="30316" y="3702028"/>
                  <a:pt x="2965" y="3098601"/>
                </a:cubicBezTo>
                <a:cubicBezTo>
                  <a:pt x="-24592" y="2494347"/>
                  <a:pt x="146889" y="1926640"/>
                  <a:pt x="230813" y="1734249"/>
                </a:cubicBezTo>
                <a:cubicBezTo>
                  <a:pt x="314738" y="1541857"/>
                  <a:pt x="467003" y="1260322"/>
                  <a:pt x="812883" y="1085274"/>
                </a:cubicBezTo>
                <a:cubicBezTo>
                  <a:pt x="1157935" y="910432"/>
                  <a:pt x="1292205" y="948179"/>
                  <a:pt x="1676967" y="805643"/>
                </a:cubicBezTo>
                <a:cubicBezTo>
                  <a:pt x="1902150" y="724878"/>
                  <a:pt x="2122194" y="591756"/>
                  <a:pt x="2325887" y="463589"/>
                </a:cubicBezTo>
                <a:cubicBezTo>
                  <a:pt x="2636399" y="263066"/>
                  <a:pt x="2810049" y="197787"/>
                  <a:pt x="3063384" y="102968"/>
                </a:cubicBezTo>
                <a:cubicBezTo>
                  <a:pt x="3242571" y="36089"/>
                  <a:pt x="3424543" y="2424"/>
                  <a:pt x="3604196" y="127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6" t="-1" r="15418" b="631"/>
          <a:stretch>
            <a:fillRect/>
          </a:stretch>
        </p:blipFill>
        <p:spPr>
          <a:xfrm>
            <a:off x="5990590" y="2422525"/>
            <a:ext cx="5417185" cy="44323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695325" y="1304926"/>
            <a:ext cx="5400675" cy="2152650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02000" y="3740785"/>
            <a:ext cx="2880000" cy="579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文本卡片_3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914400" y="2082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2641600"/>
            <a:ext cx="28448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673600" y="2082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673600" y="2641600"/>
            <a:ext cx="28448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432800" y="2082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432800" y="2641600"/>
            <a:ext cx="28448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列内容_3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89" hasCustomPrompt="1"/>
            <p:custDataLst>
              <p:tags r:id="rId3"/>
            </p:custDataLst>
          </p:nvPr>
        </p:nvSpPr>
        <p:spPr>
          <a:xfrm>
            <a:off x="609600" y="1524000"/>
            <a:ext cx="3454400" cy="4114800"/>
          </a:xfrm>
          <a:custGeom>
            <a:avLst/>
            <a:gdLst>
              <a:gd name="connisteX0" fmla="*/ 0 w 3454400"/>
              <a:gd name="connsiteY0" fmla="*/ 203200 h 4114800"/>
              <a:gd name="connisteX1" fmla="*/ 203200 w 3454400"/>
              <a:gd name="connsiteY1" fmla="*/ 0 h 4114800"/>
              <a:gd name="connisteX2" fmla="*/ 3251200 w 3454400"/>
              <a:gd name="connsiteY2" fmla="*/ 0 h 4114800"/>
              <a:gd name="connisteX3" fmla="*/ 3454400 w 3454400"/>
              <a:gd name="connsiteY3" fmla="*/ 203200 h 4114800"/>
              <a:gd name="connisteX4" fmla="*/ 3454400 w 3454400"/>
              <a:gd name="connsiteY4" fmla="*/ 3911600 h 4114800"/>
              <a:gd name="connisteX5" fmla="*/ 3251200 w 3454400"/>
              <a:gd name="connsiteY5" fmla="*/ 4114800 h 4114800"/>
              <a:gd name="connisteX6" fmla="*/ 203200 w 3454400"/>
              <a:gd name="connsiteY6" fmla="*/ 4114800 h 4114800"/>
              <a:gd name="connisteX7" fmla="*/ 0 w 3454400"/>
              <a:gd name="connsiteY7" fmla="*/ 3911600 h 4114800"/>
              <a:gd name="connisteX8" fmla="*/ 0 w 3454400"/>
              <a:gd name="connsiteY8" fmla="*/ 203200 h 411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1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11600"/>
                </a:lnTo>
                <a:cubicBezTo>
                  <a:pt x="3454400" y="4023824"/>
                  <a:pt x="3363424" y="4114800"/>
                  <a:pt x="3251200" y="4114800"/>
                </a:cubicBezTo>
                <a:lnTo>
                  <a:pt x="203200" y="4114800"/>
                </a:lnTo>
                <a:cubicBezTo>
                  <a:pt x="90976" y="4114800"/>
                  <a:pt x="0" y="4023824"/>
                  <a:pt x="0" y="391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5943600"/>
            <a:ext cx="34544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9" name="内容占位符 8"/>
          <p:cNvSpPr>
            <a:spLocks noGrp="1"/>
          </p:cNvSpPr>
          <p:nvPr>
            <p:ph idx="16390" hasCustomPrompt="1"/>
            <p:custDataLst>
              <p:tags r:id="rId5"/>
            </p:custDataLst>
          </p:nvPr>
        </p:nvSpPr>
        <p:spPr>
          <a:xfrm>
            <a:off x="4368800" y="1524000"/>
            <a:ext cx="3454400" cy="4114800"/>
          </a:xfrm>
          <a:custGeom>
            <a:avLst/>
            <a:gdLst>
              <a:gd name="connisteX0" fmla="*/ 0 w 3454400"/>
              <a:gd name="connsiteY0" fmla="*/ 203200 h 4114800"/>
              <a:gd name="connisteX1" fmla="*/ 203200 w 3454400"/>
              <a:gd name="connsiteY1" fmla="*/ 0 h 4114800"/>
              <a:gd name="connisteX2" fmla="*/ 3251200 w 3454400"/>
              <a:gd name="connsiteY2" fmla="*/ 0 h 4114800"/>
              <a:gd name="connisteX3" fmla="*/ 3454400 w 3454400"/>
              <a:gd name="connsiteY3" fmla="*/ 203200 h 4114800"/>
              <a:gd name="connisteX4" fmla="*/ 3454400 w 3454400"/>
              <a:gd name="connsiteY4" fmla="*/ 3911600 h 4114800"/>
              <a:gd name="connisteX5" fmla="*/ 3251200 w 3454400"/>
              <a:gd name="connsiteY5" fmla="*/ 4114800 h 4114800"/>
              <a:gd name="connisteX6" fmla="*/ 203200 w 3454400"/>
              <a:gd name="connsiteY6" fmla="*/ 4114800 h 4114800"/>
              <a:gd name="connisteX7" fmla="*/ 0 w 3454400"/>
              <a:gd name="connsiteY7" fmla="*/ 3911600 h 4114800"/>
              <a:gd name="connisteX8" fmla="*/ 0 w 3454400"/>
              <a:gd name="connsiteY8" fmla="*/ 203200 h 411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1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11600"/>
                </a:lnTo>
                <a:cubicBezTo>
                  <a:pt x="3454400" y="4023824"/>
                  <a:pt x="3363424" y="4114800"/>
                  <a:pt x="3251200" y="4114800"/>
                </a:cubicBezTo>
                <a:lnTo>
                  <a:pt x="203200" y="4114800"/>
                </a:lnTo>
                <a:cubicBezTo>
                  <a:pt x="90976" y="4114800"/>
                  <a:pt x="0" y="4023824"/>
                  <a:pt x="0" y="391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4368800" y="5943600"/>
            <a:ext cx="34544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idx="16391" hasCustomPrompt="1"/>
            <p:custDataLst>
              <p:tags r:id="rId7"/>
            </p:custDataLst>
          </p:nvPr>
        </p:nvSpPr>
        <p:spPr>
          <a:xfrm>
            <a:off x="8128000" y="1524000"/>
            <a:ext cx="3454400" cy="4114800"/>
          </a:xfrm>
          <a:custGeom>
            <a:avLst/>
            <a:gdLst>
              <a:gd name="connisteX0" fmla="*/ 0 w 3454400"/>
              <a:gd name="connsiteY0" fmla="*/ 203200 h 4114800"/>
              <a:gd name="connisteX1" fmla="*/ 203200 w 3454400"/>
              <a:gd name="connsiteY1" fmla="*/ 0 h 4114800"/>
              <a:gd name="connisteX2" fmla="*/ 3251200 w 3454400"/>
              <a:gd name="connsiteY2" fmla="*/ 0 h 4114800"/>
              <a:gd name="connisteX3" fmla="*/ 3454400 w 3454400"/>
              <a:gd name="connsiteY3" fmla="*/ 203200 h 4114800"/>
              <a:gd name="connisteX4" fmla="*/ 3454400 w 3454400"/>
              <a:gd name="connsiteY4" fmla="*/ 3911600 h 4114800"/>
              <a:gd name="connisteX5" fmla="*/ 3251200 w 3454400"/>
              <a:gd name="connsiteY5" fmla="*/ 4114800 h 4114800"/>
              <a:gd name="connisteX6" fmla="*/ 203200 w 3454400"/>
              <a:gd name="connsiteY6" fmla="*/ 4114800 h 4114800"/>
              <a:gd name="connisteX7" fmla="*/ 0 w 3454400"/>
              <a:gd name="connsiteY7" fmla="*/ 3911600 h 4114800"/>
              <a:gd name="connisteX8" fmla="*/ 0 w 3454400"/>
              <a:gd name="connsiteY8" fmla="*/ 203200 h 411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1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11600"/>
                </a:lnTo>
                <a:cubicBezTo>
                  <a:pt x="3454400" y="4023824"/>
                  <a:pt x="3363424" y="4114800"/>
                  <a:pt x="3251200" y="4114800"/>
                </a:cubicBezTo>
                <a:lnTo>
                  <a:pt x="203200" y="4114800"/>
                </a:lnTo>
                <a:cubicBezTo>
                  <a:pt x="90976" y="4114800"/>
                  <a:pt x="0" y="4023824"/>
                  <a:pt x="0" y="391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8128000" y="5943600"/>
            <a:ext cx="34544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 userDrawn="1">
            <p:custDataLst>
              <p:tags r:id="rId2"/>
            </p:custDataLst>
          </p:nvPr>
        </p:nvSpPr>
        <p:spPr>
          <a:xfrm>
            <a:off x="6055961" y="826274"/>
            <a:ext cx="5909293" cy="5793934"/>
          </a:xfrm>
          <a:custGeom>
            <a:avLst/>
            <a:gdLst>
              <a:gd name="connsiteX0" fmla="*/ 3879682 w 5909293"/>
              <a:gd name="connsiteY0" fmla="*/ 175 h 5793934"/>
              <a:gd name="connsiteX1" fmla="*/ 4334567 w 5909293"/>
              <a:gd name="connsiteY1" fmla="*/ 60453 h 5793934"/>
              <a:gd name="connsiteX2" fmla="*/ 5246308 w 5909293"/>
              <a:gd name="connsiteY2" fmla="*/ 1122598 h 5793934"/>
              <a:gd name="connsiteX3" fmla="*/ 5872742 w 5909293"/>
              <a:gd name="connsiteY3" fmla="*/ 3288868 h 5793934"/>
              <a:gd name="connsiteX4" fmla="*/ 5819651 w 5909293"/>
              <a:gd name="connsiteY4" fmla="*/ 4125030 h 5793934"/>
              <a:gd name="connsiteX5" fmla="*/ 5157837 w 5909293"/>
              <a:gd name="connsiteY5" fmla="*/ 4912778 h 5793934"/>
              <a:gd name="connsiteX6" fmla="*/ 3379536 w 5909293"/>
              <a:gd name="connsiteY6" fmla="*/ 5735681 h 5793934"/>
              <a:gd name="connsiteX7" fmla="*/ 2078353 w 5909293"/>
              <a:gd name="connsiteY7" fmla="*/ 5726438 h 5793934"/>
              <a:gd name="connsiteX8" fmla="*/ 1489530 w 5909293"/>
              <a:gd name="connsiteY8" fmla="*/ 5363600 h 5793934"/>
              <a:gd name="connsiteX9" fmla="*/ 1035251 w 5909293"/>
              <a:gd name="connsiteY9" fmla="*/ 4220617 h 5793934"/>
              <a:gd name="connsiteX10" fmla="*/ 602247 w 5909293"/>
              <a:gd name="connsiteY10" fmla="*/ 3634929 h 5793934"/>
              <a:gd name="connsiteX11" fmla="*/ 169546 w 5909293"/>
              <a:gd name="connsiteY11" fmla="*/ 2942699 h 5793934"/>
              <a:gd name="connsiteX12" fmla="*/ 652478 w 5909293"/>
              <a:gd name="connsiteY12" fmla="*/ 842508 h 5793934"/>
              <a:gd name="connsiteX13" fmla="*/ 1316613 w 5909293"/>
              <a:gd name="connsiteY13" fmla="*/ 445895 h 5793934"/>
              <a:gd name="connsiteX14" fmla="*/ 1375567 w 5909293"/>
              <a:gd name="connsiteY14" fmla="*/ 424437 h 5793934"/>
              <a:gd name="connsiteX15" fmla="*/ 3408460 w 5909293"/>
              <a:gd name="connsiteY15" fmla="*/ 39296 h 5793934"/>
              <a:gd name="connsiteX16" fmla="*/ 3879682 w 5909293"/>
              <a:gd name="connsiteY16" fmla="*/ 175 h 5793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909293" h="5793934">
                <a:moveTo>
                  <a:pt x="3879682" y="175"/>
                </a:moveTo>
                <a:cubicBezTo>
                  <a:pt x="4036099" y="-1809"/>
                  <a:pt x="4189792" y="12773"/>
                  <a:pt x="4334567" y="60453"/>
                </a:cubicBezTo>
                <a:cubicBezTo>
                  <a:pt x="4813657" y="215756"/>
                  <a:pt x="5066087" y="681130"/>
                  <a:pt x="5246308" y="1122598"/>
                </a:cubicBezTo>
                <a:cubicBezTo>
                  <a:pt x="5530593" y="1818660"/>
                  <a:pt x="5740779" y="2546018"/>
                  <a:pt x="5872742" y="3288868"/>
                </a:cubicBezTo>
                <a:cubicBezTo>
                  <a:pt x="5918136" y="3538857"/>
                  <a:pt x="5941127" y="3794404"/>
                  <a:pt x="5819651" y="4125030"/>
                </a:cubicBezTo>
                <a:cubicBezTo>
                  <a:pt x="5698175" y="4455657"/>
                  <a:pt x="5555500" y="4602769"/>
                  <a:pt x="5157837" y="4912778"/>
                </a:cubicBezTo>
                <a:cubicBezTo>
                  <a:pt x="4760174" y="5222787"/>
                  <a:pt x="3749504" y="5653807"/>
                  <a:pt x="3379536" y="5735681"/>
                </a:cubicBezTo>
                <a:cubicBezTo>
                  <a:pt x="3009569" y="5817556"/>
                  <a:pt x="2330918" y="5811898"/>
                  <a:pt x="2078353" y="5726438"/>
                </a:cubicBezTo>
                <a:cubicBezTo>
                  <a:pt x="1825789" y="5640979"/>
                  <a:pt x="1633575" y="5511056"/>
                  <a:pt x="1489530" y="5363600"/>
                </a:cubicBezTo>
                <a:cubicBezTo>
                  <a:pt x="1194462" y="5065173"/>
                  <a:pt x="1220104" y="4592041"/>
                  <a:pt x="1035251" y="4220617"/>
                </a:cubicBezTo>
                <a:cubicBezTo>
                  <a:pt x="929927" y="4002824"/>
                  <a:pt x="753122" y="3825759"/>
                  <a:pt x="602247" y="3634929"/>
                </a:cubicBezTo>
                <a:cubicBezTo>
                  <a:pt x="430739" y="3418728"/>
                  <a:pt x="291908" y="3187171"/>
                  <a:pt x="169546" y="2942699"/>
                </a:cubicBezTo>
                <a:cubicBezTo>
                  <a:pt x="-176217" y="2249976"/>
                  <a:pt x="17688" y="1398039"/>
                  <a:pt x="652478" y="842508"/>
                </a:cubicBezTo>
                <a:cubicBezTo>
                  <a:pt x="844971" y="671207"/>
                  <a:pt x="1070014" y="535650"/>
                  <a:pt x="1316613" y="445895"/>
                </a:cubicBezTo>
                <a:cubicBezTo>
                  <a:pt x="1336025" y="438830"/>
                  <a:pt x="1354717" y="432026"/>
                  <a:pt x="1375567" y="424437"/>
                </a:cubicBezTo>
                <a:cubicBezTo>
                  <a:pt x="2029851" y="208795"/>
                  <a:pt x="2725822" y="123350"/>
                  <a:pt x="3408460" y="39296"/>
                </a:cubicBezTo>
                <a:cubicBezTo>
                  <a:pt x="3564127" y="20711"/>
                  <a:pt x="3723266" y="2160"/>
                  <a:pt x="3879682" y="17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27" name="图片 26" descr="无人机5资源 1@600x-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434330" y="1677670"/>
            <a:ext cx="6643370" cy="51803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702945" y="1304926"/>
            <a:ext cx="5393055" cy="2152650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01675" y="3740150"/>
            <a:ext cx="2880995" cy="58039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r>
              <a:rPr lang="zh-CN" altLang="en-US" dirty="0"/>
              <a:t>汇报人：</a:t>
            </a:r>
            <a:r>
              <a:rPr lang="en-US" altLang="zh-CN" dirty="0"/>
              <a:t>WPS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8"/>
            <p:custDataLst>
              <p:tags r:id="rId7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9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20"/>
            <p:custDataLst>
              <p:tags r:id="rId9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325" y="1276350"/>
            <a:ext cx="10799475" cy="4901565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6"/>
          <p:cNvSpPr/>
          <p:nvPr>
            <p:custDataLst>
              <p:tags r:id="rId2"/>
            </p:custDataLst>
          </p:nvPr>
        </p:nvSpPr>
        <p:spPr bwMode="auto">
          <a:xfrm>
            <a:off x="837565" y="3313430"/>
            <a:ext cx="3971925" cy="3523615"/>
          </a:xfrm>
          <a:custGeom>
            <a:avLst/>
            <a:gdLst>
              <a:gd name="T0" fmla="*/ 1557 w 2458"/>
              <a:gd name="T1" fmla="*/ 0 h 2180"/>
              <a:gd name="T2" fmla="*/ 1529 w 2458"/>
              <a:gd name="T3" fmla="*/ 0 h 2180"/>
              <a:gd name="T4" fmla="*/ 618 w 2458"/>
              <a:gd name="T5" fmla="*/ 140 h 2180"/>
              <a:gd name="T6" fmla="*/ 233 w 2458"/>
              <a:gd name="T7" fmla="*/ 281 h 2180"/>
              <a:gd name="T8" fmla="*/ 13 w 2458"/>
              <a:gd name="T9" fmla="*/ 831 h 2180"/>
              <a:gd name="T10" fmla="*/ 81 w 2458"/>
              <a:gd name="T11" fmla="*/ 1775 h 2180"/>
              <a:gd name="T12" fmla="*/ 215 w 2458"/>
              <a:gd name="T13" fmla="*/ 2066 h 2180"/>
              <a:gd name="T14" fmla="*/ 645 w 2458"/>
              <a:gd name="T15" fmla="*/ 2180 h 2180"/>
              <a:gd name="T16" fmla="*/ 1805 w 2458"/>
              <a:gd name="T17" fmla="*/ 2180 h 2180"/>
              <a:gd name="T18" fmla="*/ 2036 w 2458"/>
              <a:gd name="T19" fmla="*/ 2135 h 2180"/>
              <a:gd name="T20" fmla="*/ 2235 w 2458"/>
              <a:gd name="T21" fmla="*/ 1964 h 2180"/>
              <a:gd name="T22" fmla="*/ 2251 w 2458"/>
              <a:gd name="T23" fmla="*/ 1448 h 2180"/>
              <a:gd name="T24" fmla="*/ 2343 w 2458"/>
              <a:gd name="T25" fmla="*/ 1155 h 2180"/>
              <a:gd name="T26" fmla="*/ 2419 w 2458"/>
              <a:gd name="T27" fmla="*/ 820 h 2180"/>
              <a:gd name="T28" fmla="*/ 1896 w 2458"/>
              <a:gd name="T29" fmla="*/ 61 h 2180"/>
              <a:gd name="T30" fmla="*/ 1557 w 2458"/>
              <a:gd name="T31" fmla="*/ 0 h 2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458" h="2180">
                <a:moveTo>
                  <a:pt x="1557" y="0"/>
                </a:moveTo>
                <a:cubicBezTo>
                  <a:pt x="1548" y="0"/>
                  <a:pt x="1539" y="0"/>
                  <a:pt x="1529" y="0"/>
                </a:cubicBezTo>
                <a:cubicBezTo>
                  <a:pt x="1222" y="9"/>
                  <a:pt x="917" y="75"/>
                  <a:pt x="618" y="140"/>
                </a:cubicBezTo>
                <a:cubicBezTo>
                  <a:pt x="482" y="170"/>
                  <a:pt x="340" y="202"/>
                  <a:pt x="233" y="281"/>
                </a:cubicBezTo>
                <a:cubicBezTo>
                  <a:pt x="56" y="411"/>
                  <a:pt x="21" y="631"/>
                  <a:pt x="13" y="831"/>
                </a:cubicBezTo>
                <a:cubicBezTo>
                  <a:pt x="0" y="1146"/>
                  <a:pt x="23" y="1463"/>
                  <a:pt x="81" y="1775"/>
                </a:cubicBezTo>
                <a:cubicBezTo>
                  <a:pt x="100" y="1880"/>
                  <a:pt x="128" y="1991"/>
                  <a:pt x="215" y="2066"/>
                </a:cubicBezTo>
                <a:cubicBezTo>
                  <a:pt x="323" y="2159"/>
                  <a:pt x="491" y="2172"/>
                  <a:pt x="645" y="2180"/>
                </a:cubicBezTo>
                <a:cubicBezTo>
                  <a:pt x="1805" y="2180"/>
                  <a:pt x="1805" y="2180"/>
                  <a:pt x="1805" y="2180"/>
                </a:cubicBezTo>
                <a:cubicBezTo>
                  <a:pt x="1884" y="2180"/>
                  <a:pt x="1963" y="2165"/>
                  <a:pt x="2036" y="2135"/>
                </a:cubicBezTo>
                <a:cubicBezTo>
                  <a:pt x="2124" y="2098"/>
                  <a:pt x="2197" y="2043"/>
                  <a:pt x="2235" y="1964"/>
                </a:cubicBezTo>
                <a:cubicBezTo>
                  <a:pt x="2313" y="1804"/>
                  <a:pt x="2230" y="1621"/>
                  <a:pt x="2251" y="1448"/>
                </a:cubicBezTo>
                <a:cubicBezTo>
                  <a:pt x="2262" y="1347"/>
                  <a:pt x="2309" y="1252"/>
                  <a:pt x="2343" y="1155"/>
                </a:cubicBezTo>
                <a:cubicBezTo>
                  <a:pt x="2382" y="1045"/>
                  <a:pt x="2405" y="934"/>
                  <a:pt x="2419" y="820"/>
                </a:cubicBezTo>
                <a:cubicBezTo>
                  <a:pt x="2458" y="497"/>
                  <a:pt x="2247" y="189"/>
                  <a:pt x="1896" y="61"/>
                </a:cubicBezTo>
                <a:cubicBezTo>
                  <a:pt x="1789" y="21"/>
                  <a:pt x="1674" y="0"/>
                  <a:pt x="1557" y="0"/>
                </a:cubicBezTo>
              </a:path>
            </a:pathLst>
          </a:custGeom>
          <a:solidFill>
            <a:schemeClr val="accent1">
              <a:alpha val="17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Microsoft YaHei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837565" y="565150"/>
            <a:ext cx="2129790" cy="1081405"/>
          </a:xfrm>
        </p:spPr>
        <p:txBody>
          <a:bodyPr wrap="square" anchor="ctr" anchorCtr="0">
            <a:normAutofit/>
          </a:bodyPr>
          <a:lstStyle>
            <a:lvl1pPr algn="l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0" r="27352"/>
          <a:stretch>
            <a:fillRect/>
          </a:stretch>
        </p:blipFill>
        <p:spPr>
          <a:xfrm>
            <a:off x="1198245" y="2017395"/>
            <a:ext cx="3556000" cy="4831715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"/>
          <p:cNvSpPr/>
          <p:nvPr userDrawn="1">
            <p:custDataLst>
              <p:tags r:id="rId2"/>
            </p:custDataLst>
          </p:nvPr>
        </p:nvSpPr>
        <p:spPr bwMode="auto">
          <a:xfrm rot="6240000" flipH="1">
            <a:off x="1155700" y="2376170"/>
            <a:ext cx="2943225" cy="3514725"/>
          </a:xfrm>
          <a:custGeom>
            <a:avLst/>
            <a:gdLst>
              <a:gd name="connsiteX0" fmla="*/ 4417 w 6611"/>
              <a:gd name="connsiteY0" fmla="*/ 31 h 6706"/>
              <a:gd name="connsiteX1" fmla="*/ 3525 w 6611"/>
              <a:gd name="connsiteY1" fmla="*/ 35 h 6706"/>
              <a:gd name="connsiteX2" fmla="*/ 1943 w 6611"/>
              <a:gd name="connsiteY2" fmla="*/ 444 h 6706"/>
              <a:gd name="connsiteX3" fmla="*/ 850 w 6611"/>
              <a:gd name="connsiteY3" fmla="*/ 1131 h 6706"/>
              <a:gd name="connsiteX4" fmla="*/ 7 w 6611"/>
              <a:gd name="connsiteY4" fmla="*/ 2491 h 6706"/>
              <a:gd name="connsiteX5" fmla="*/ 211 w 6611"/>
              <a:gd name="connsiteY5" fmla="*/ 4826 h 6706"/>
              <a:gd name="connsiteX6" fmla="*/ 752 w 6611"/>
              <a:gd name="connsiteY6" fmla="*/ 5937 h 6706"/>
              <a:gd name="connsiteX7" fmla="*/ 1926 w 6611"/>
              <a:gd name="connsiteY7" fmla="*/ 6575 h 6706"/>
              <a:gd name="connsiteX8" fmla="*/ 4060 w 6611"/>
              <a:gd name="connsiteY8" fmla="*/ 6611 h 6706"/>
              <a:gd name="connsiteX9" fmla="*/ 5547 w 6611"/>
              <a:gd name="connsiteY9" fmla="*/ 5965 h 6706"/>
              <a:gd name="connsiteX10" fmla="*/ 6120 w 6611"/>
              <a:gd name="connsiteY10" fmla="*/ 5119 h 6706"/>
              <a:gd name="connsiteX11" fmla="*/ 6193 w 6611"/>
              <a:gd name="connsiteY11" fmla="*/ 4057 h 6706"/>
              <a:gd name="connsiteX12" fmla="*/ 6398 w 6611"/>
              <a:gd name="connsiteY12" fmla="*/ 3222 h 6706"/>
              <a:gd name="connsiteX13" fmla="*/ 6599 w 6611"/>
              <a:gd name="connsiteY13" fmla="*/ 2281 h 6706"/>
              <a:gd name="connsiteX14" fmla="*/ 5278 w 6611"/>
              <a:gd name="connsiteY14" fmla="*/ 246 h 6706"/>
              <a:gd name="connsiteX15" fmla="*/ 4417 w 6611"/>
              <a:gd name="connsiteY15" fmla="*/ 31 h 6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0" t="0" r="r" b="b"/>
            <a:pathLst>
              <a:path w="6612" h="6706">
                <a:moveTo>
                  <a:pt x="4417" y="31"/>
                </a:moveTo>
                <a:cubicBezTo>
                  <a:pt x="4275" y="12"/>
                  <a:pt x="4045" y="-31"/>
                  <a:pt x="3525" y="35"/>
                </a:cubicBezTo>
                <a:cubicBezTo>
                  <a:pt x="3006" y="101"/>
                  <a:pt x="2368" y="252"/>
                  <a:pt x="1943" y="444"/>
                </a:cubicBezTo>
                <a:cubicBezTo>
                  <a:pt x="1518" y="636"/>
                  <a:pt x="1206" y="810"/>
                  <a:pt x="850" y="1131"/>
                </a:cubicBezTo>
                <a:cubicBezTo>
                  <a:pt x="494" y="1452"/>
                  <a:pt x="28" y="1938"/>
                  <a:pt x="7" y="2491"/>
                </a:cubicBezTo>
                <a:cubicBezTo>
                  <a:pt x="-27" y="3362"/>
                  <a:pt x="58" y="4271"/>
                  <a:pt x="211" y="4826"/>
                </a:cubicBezTo>
                <a:cubicBezTo>
                  <a:pt x="364" y="5381"/>
                  <a:pt x="482" y="5677"/>
                  <a:pt x="752" y="5937"/>
                </a:cubicBezTo>
                <a:cubicBezTo>
                  <a:pt x="1022" y="6197"/>
                  <a:pt x="1328" y="6417"/>
                  <a:pt x="1926" y="6575"/>
                </a:cubicBezTo>
                <a:cubicBezTo>
                  <a:pt x="2524" y="6733"/>
                  <a:pt x="3366" y="6751"/>
                  <a:pt x="4060" y="6611"/>
                </a:cubicBezTo>
                <a:cubicBezTo>
                  <a:pt x="4755" y="6471"/>
                  <a:pt x="5352" y="6115"/>
                  <a:pt x="5547" y="5965"/>
                </a:cubicBezTo>
                <a:cubicBezTo>
                  <a:pt x="5742" y="5815"/>
                  <a:pt x="6019" y="5562"/>
                  <a:pt x="6120" y="5119"/>
                </a:cubicBezTo>
                <a:cubicBezTo>
                  <a:pt x="6221" y="4677"/>
                  <a:pt x="6140" y="4535"/>
                  <a:pt x="6193" y="4057"/>
                </a:cubicBezTo>
                <a:cubicBezTo>
                  <a:pt x="6221" y="3778"/>
                  <a:pt x="6310" y="3490"/>
                  <a:pt x="6398" y="3222"/>
                </a:cubicBezTo>
                <a:cubicBezTo>
                  <a:pt x="6538" y="2812"/>
                  <a:pt x="6563" y="2596"/>
                  <a:pt x="6599" y="2281"/>
                </a:cubicBezTo>
                <a:cubicBezTo>
                  <a:pt x="6700" y="1390"/>
                  <a:pt x="6184" y="599"/>
                  <a:pt x="5278" y="246"/>
                </a:cubicBezTo>
                <a:cubicBezTo>
                  <a:pt x="5003" y="136"/>
                  <a:pt x="4559" y="50"/>
                  <a:pt x="4417" y="31"/>
                </a:cubicBezTo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Microsoft YaHei" panose="020B0503020204020204" charset="-122"/>
            </a:endParaRPr>
          </a:p>
        </p:txBody>
      </p:sp>
      <p:pic>
        <p:nvPicPr>
          <p:cNvPr id="7" name="图片 6" descr="D:\工作文件\临时素材\无人机5资源-1@600x-8.png无人机5资源-1@600x-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rcRect l="150" r="150"/>
          <a:stretch>
            <a:fillRect/>
          </a:stretch>
        </p:blipFill>
        <p:spPr>
          <a:xfrm>
            <a:off x="869950" y="1550035"/>
            <a:ext cx="3757930" cy="32626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461000" y="3408045"/>
            <a:ext cx="5892800" cy="1761490"/>
          </a:xfrm>
        </p:spPr>
        <p:txBody>
          <a:bodyPr wrap="square" lIns="0" tIns="0" rIns="0" bIns="0" anchor="t" anchorCtr="0">
            <a:normAutofit/>
          </a:bodyPr>
          <a:lstStyle>
            <a:lvl1pPr algn="l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5461000" y="2364740"/>
            <a:ext cx="5892800" cy="960120"/>
          </a:xfrm>
          <a:prstGeom prst="roundRect">
            <a:avLst>
              <a:gd name="adj" fmla="val 0"/>
            </a:avLst>
          </a:prstGeom>
          <a:noFill/>
        </p:spPr>
        <p:txBody>
          <a:bodyPr wrap="square" anchor="b" anchorCtr="0">
            <a:noAutofit/>
          </a:bodyPr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buNone/>
              <a:defRPr sz="4800" b="1" u="none" strike="noStrike" kern="1200" cap="none" spc="100" normalizeH="0">
                <a:solidFill>
                  <a:schemeClr val="accent1"/>
                </a:solidFill>
                <a:uFillTx/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编号</a:t>
            </a:r>
            <a:endParaRPr lang="zh-CN" altLang="en-US" dirty="0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4"/>
            <p:custDataLst>
              <p:tags r:id="rId7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15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6"/>
            <p:custDataLst>
              <p:tags r:id="rId9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325" y="1276350"/>
            <a:ext cx="5324475" cy="49012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276350"/>
            <a:ext cx="5322600" cy="49012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326" y="1276350"/>
            <a:ext cx="5302250" cy="463385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326" y="2061275"/>
            <a:ext cx="5302250" cy="4128388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276350"/>
            <a:ext cx="5329238" cy="463385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2061275"/>
            <a:ext cx="5329238" cy="4128388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325" y="360000"/>
            <a:ext cx="10806113" cy="581760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325" y="1296000"/>
            <a:ext cx="10806113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6217227" y="854899"/>
            <a:ext cx="5597566" cy="5917440"/>
          </a:xfrm>
          <a:custGeom>
            <a:avLst/>
            <a:gdLst>
              <a:gd name="connsiteX0" fmla="*/ 3604196 w 5597566"/>
              <a:gd name="connsiteY0" fmla="*/ 127 h 5917440"/>
              <a:gd name="connsiteX1" fmla="*/ 5020674 w 5597566"/>
              <a:gd name="connsiteY1" fmla="*/ 776538 h 5917440"/>
              <a:gd name="connsiteX2" fmla="*/ 5376373 w 5597566"/>
              <a:gd name="connsiteY2" fmla="*/ 1444944 h 5917440"/>
              <a:gd name="connsiteX3" fmla="*/ 5557177 w 5597566"/>
              <a:gd name="connsiteY3" fmla="*/ 2184215 h 5917440"/>
              <a:gd name="connsiteX4" fmla="*/ 5545132 w 5597566"/>
              <a:gd name="connsiteY4" fmla="*/ 3578297 h 5917440"/>
              <a:gd name="connsiteX5" fmla="*/ 5202018 w 5597566"/>
              <a:gd name="connsiteY5" fmla="*/ 4624938 h 5917440"/>
              <a:gd name="connsiteX6" fmla="*/ 4250176 w 5597566"/>
              <a:gd name="connsiteY6" fmla="*/ 5603523 h 5917440"/>
              <a:gd name="connsiteX7" fmla="*/ 2275095 w 5597566"/>
              <a:gd name="connsiteY7" fmla="*/ 5916586 h 5917440"/>
              <a:gd name="connsiteX8" fmla="*/ 1243715 w 5597566"/>
              <a:gd name="connsiteY8" fmla="*/ 5698027 h 5917440"/>
              <a:gd name="connsiteX9" fmla="*/ 473239 w 5597566"/>
              <a:gd name="connsiteY9" fmla="*/ 4857811 h 5917440"/>
              <a:gd name="connsiteX10" fmla="*/ 2965 w 5597566"/>
              <a:gd name="connsiteY10" fmla="*/ 3098601 h 5917440"/>
              <a:gd name="connsiteX11" fmla="*/ 230813 w 5597566"/>
              <a:gd name="connsiteY11" fmla="*/ 1734249 h 5917440"/>
              <a:gd name="connsiteX12" fmla="*/ 812883 w 5597566"/>
              <a:gd name="connsiteY12" fmla="*/ 1085274 h 5917440"/>
              <a:gd name="connsiteX13" fmla="*/ 1676967 w 5597566"/>
              <a:gd name="connsiteY13" fmla="*/ 805643 h 5917440"/>
              <a:gd name="connsiteX14" fmla="*/ 2325887 w 5597566"/>
              <a:gd name="connsiteY14" fmla="*/ 463589 h 5917440"/>
              <a:gd name="connsiteX15" fmla="*/ 3063384 w 5597566"/>
              <a:gd name="connsiteY15" fmla="*/ 102968 h 5917440"/>
              <a:gd name="connsiteX16" fmla="*/ 3604196 w 5597566"/>
              <a:gd name="connsiteY16" fmla="*/ 127 h 5917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597566" h="5917440">
                <a:moveTo>
                  <a:pt x="3604196" y="127"/>
                </a:moveTo>
                <a:cubicBezTo>
                  <a:pt x="4143157" y="-6764"/>
                  <a:pt x="4661253" y="268656"/>
                  <a:pt x="5020674" y="776538"/>
                </a:cubicBezTo>
                <a:cubicBezTo>
                  <a:pt x="5168497" y="981494"/>
                  <a:pt x="5331334" y="1331311"/>
                  <a:pt x="5376373" y="1444944"/>
                </a:cubicBezTo>
                <a:cubicBezTo>
                  <a:pt x="5421411" y="1558578"/>
                  <a:pt x="5504481" y="1740109"/>
                  <a:pt x="5557177" y="2184215"/>
                </a:cubicBezTo>
                <a:cubicBezTo>
                  <a:pt x="5609665" y="2627494"/>
                  <a:pt x="5616351" y="3186831"/>
                  <a:pt x="5545132" y="3578297"/>
                </a:cubicBezTo>
                <a:cubicBezTo>
                  <a:pt x="5473912" y="3969764"/>
                  <a:pt x="5394269" y="4263968"/>
                  <a:pt x="5202018" y="4624938"/>
                </a:cubicBezTo>
                <a:cubicBezTo>
                  <a:pt x="5009767" y="4985909"/>
                  <a:pt x="4703629" y="5471999"/>
                  <a:pt x="4250176" y="5603523"/>
                </a:cubicBezTo>
                <a:cubicBezTo>
                  <a:pt x="3536157" y="5811445"/>
                  <a:pt x="2766119" y="5928695"/>
                  <a:pt x="2275095" y="5916586"/>
                </a:cubicBezTo>
                <a:cubicBezTo>
                  <a:pt x="1784072" y="5904476"/>
                  <a:pt x="1514679" y="5867884"/>
                  <a:pt x="1243715" y="5698027"/>
                </a:cubicBezTo>
                <a:cubicBezTo>
                  <a:pt x="972750" y="5528171"/>
                  <a:pt x="727468" y="5320256"/>
                  <a:pt x="473239" y="4857811"/>
                </a:cubicBezTo>
                <a:cubicBezTo>
                  <a:pt x="219012" y="4395366"/>
                  <a:pt x="30316" y="3702028"/>
                  <a:pt x="2965" y="3098601"/>
                </a:cubicBezTo>
                <a:cubicBezTo>
                  <a:pt x="-24592" y="2494347"/>
                  <a:pt x="146889" y="1926640"/>
                  <a:pt x="230813" y="1734249"/>
                </a:cubicBezTo>
                <a:cubicBezTo>
                  <a:pt x="314738" y="1541857"/>
                  <a:pt x="467003" y="1260322"/>
                  <a:pt x="812883" y="1085274"/>
                </a:cubicBezTo>
                <a:cubicBezTo>
                  <a:pt x="1157935" y="910432"/>
                  <a:pt x="1292205" y="948179"/>
                  <a:pt x="1676967" y="805643"/>
                </a:cubicBezTo>
                <a:cubicBezTo>
                  <a:pt x="1902150" y="724878"/>
                  <a:pt x="2122194" y="591756"/>
                  <a:pt x="2325887" y="463589"/>
                </a:cubicBezTo>
                <a:cubicBezTo>
                  <a:pt x="2636399" y="263066"/>
                  <a:pt x="2810049" y="197787"/>
                  <a:pt x="3063384" y="102968"/>
                </a:cubicBezTo>
                <a:cubicBezTo>
                  <a:pt x="3242571" y="36089"/>
                  <a:pt x="3424543" y="2424"/>
                  <a:pt x="3604196" y="127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6" t="-1" r="15418" b="631"/>
          <a:stretch>
            <a:fillRect/>
          </a:stretch>
        </p:blipFill>
        <p:spPr>
          <a:xfrm>
            <a:off x="5990590" y="2422525"/>
            <a:ext cx="5417185" cy="44323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695325" y="1304926"/>
            <a:ext cx="5400675" cy="2152650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02000" y="3740785"/>
            <a:ext cx="2880000" cy="579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文本卡片_3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914400" y="2082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2641600"/>
            <a:ext cx="28448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673600" y="2082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673600" y="2641600"/>
            <a:ext cx="28448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432800" y="2082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432800" y="2641600"/>
            <a:ext cx="28448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列内容_3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89" hasCustomPrompt="1"/>
            <p:custDataLst>
              <p:tags r:id="rId3"/>
            </p:custDataLst>
          </p:nvPr>
        </p:nvSpPr>
        <p:spPr>
          <a:xfrm>
            <a:off x="609600" y="1524000"/>
            <a:ext cx="3454400" cy="4114800"/>
          </a:xfrm>
          <a:custGeom>
            <a:avLst/>
            <a:gdLst>
              <a:gd name="connisteX0" fmla="*/ 0 w 3454400"/>
              <a:gd name="connsiteY0" fmla="*/ 203200 h 4114800"/>
              <a:gd name="connisteX1" fmla="*/ 203200 w 3454400"/>
              <a:gd name="connsiteY1" fmla="*/ 0 h 4114800"/>
              <a:gd name="connisteX2" fmla="*/ 3251200 w 3454400"/>
              <a:gd name="connsiteY2" fmla="*/ 0 h 4114800"/>
              <a:gd name="connisteX3" fmla="*/ 3454400 w 3454400"/>
              <a:gd name="connsiteY3" fmla="*/ 203200 h 4114800"/>
              <a:gd name="connisteX4" fmla="*/ 3454400 w 3454400"/>
              <a:gd name="connsiteY4" fmla="*/ 3911600 h 4114800"/>
              <a:gd name="connisteX5" fmla="*/ 3251200 w 3454400"/>
              <a:gd name="connsiteY5" fmla="*/ 4114800 h 4114800"/>
              <a:gd name="connisteX6" fmla="*/ 203200 w 3454400"/>
              <a:gd name="connsiteY6" fmla="*/ 4114800 h 4114800"/>
              <a:gd name="connisteX7" fmla="*/ 0 w 3454400"/>
              <a:gd name="connsiteY7" fmla="*/ 3911600 h 4114800"/>
              <a:gd name="connisteX8" fmla="*/ 0 w 3454400"/>
              <a:gd name="connsiteY8" fmla="*/ 203200 h 411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1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11600"/>
                </a:lnTo>
                <a:cubicBezTo>
                  <a:pt x="3454400" y="4023824"/>
                  <a:pt x="3363424" y="4114800"/>
                  <a:pt x="3251200" y="4114800"/>
                </a:cubicBezTo>
                <a:lnTo>
                  <a:pt x="203200" y="4114800"/>
                </a:lnTo>
                <a:cubicBezTo>
                  <a:pt x="90976" y="4114800"/>
                  <a:pt x="0" y="4023824"/>
                  <a:pt x="0" y="391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5943600"/>
            <a:ext cx="34544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9" name="内容占位符 8"/>
          <p:cNvSpPr>
            <a:spLocks noGrp="1"/>
          </p:cNvSpPr>
          <p:nvPr>
            <p:ph idx="16390" hasCustomPrompt="1"/>
            <p:custDataLst>
              <p:tags r:id="rId5"/>
            </p:custDataLst>
          </p:nvPr>
        </p:nvSpPr>
        <p:spPr>
          <a:xfrm>
            <a:off x="4368800" y="1524000"/>
            <a:ext cx="3454400" cy="4114800"/>
          </a:xfrm>
          <a:custGeom>
            <a:avLst/>
            <a:gdLst>
              <a:gd name="connisteX0" fmla="*/ 0 w 3454400"/>
              <a:gd name="connsiteY0" fmla="*/ 203200 h 4114800"/>
              <a:gd name="connisteX1" fmla="*/ 203200 w 3454400"/>
              <a:gd name="connsiteY1" fmla="*/ 0 h 4114800"/>
              <a:gd name="connisteX2" fmla="*/ 3251200 w 3454400"/>
              <a:gd name="connsiteY2" fmla="*/ 0 h 4114800"/>
              <a:gd name="connisteX3" fmla="*/ 3454400 w 3454400"/>
              <a:gd name="connsiteY3" fmla="*/ 203200 h 4114800"/>
              <a:gd name="connisteX4" fmla="*/ 3454400 w 3454400"/>
              <a:gd name="connsiteY4" fmla="*/ 3911600 h 4114800"/>
              <a:gd name="connisteX5" fmla="*/ 3251200 w 3454400"/>
              <a:gd name="connsiteY5" fmla="*/ 4114800 h 4114800"/>
              <a:gd name="connisteX6" fmla="*/ 203200 w 3454400"/>
              <a:gd name="connsiteY6" fmla="*/ 4114800 h 4114800"/>
              <a:gd name="connisteX7" fmla="*/ 0 w 3454400"/>
              <a:gd name="connsiteY7" fmla="*/ 3911600 h 4114800"/>
              <a:gd name="connisteX8" fmla="*/ 0 w 3454400"/>
              <a:gd name="connsiteY8" fmla="*/ 203200 h 411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1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11600"/>
                </a:lnTo>
                <a:cubicBezTo>
                  <a:pt x="3454400" y="4023824"/>
                  <a:pt x="3363424" y="4114800"/>
                  <a:pt x="3251200" y="4114800"/>
                </a:cubicBezTo>
                <a:lnTo>
                  <a:pt x="203200" y="4114800"/>
                </a:lnTo>
                <a:cubicBezTo>
                  <a:pt x="90976" y="4114800"/>
                  <a:pt x="0" y="4023824"/>
                  <a:pt x="0" y="391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4368800" y="5943600"/>
            <a:ext cx="34544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idx="16391" hasCustomPrompt="1"/>
            <p:custDataLst>
              <p:tags r:id="rId7"/>
            </p:custDataLst>
          </p:nvPr>
        </p:nvSpPr>
        <p:spPr>
          <a:xfrm>
            <a:off x="8128000" y="1524000"/>
            <a:ext cx="3454400" cy="4114800"/>
          </a:xfrm>
          <a:custGeom>
            <a:avLst/>
            <a:gdLst>
              <a:gd name="connisteX0" fmla="*/ 0 w 3454400"/>
              <a:gd name="connsiteY0" fmla="*/ 203200 h 4114800"/>
              <a:gd name="connisteX1" fmla="*/ 203200 w 3454400"/>
              <a:gd name="connsiteY1" fmla="*/ 0 h 4114800"/>
              <a:gd name="connisteX2" fmla="*/ 3251200 w 3454400"/>
              <a:gd name="connsiteY2" fmla="*/ 0 h 4114800"/>
              <a:gd name="connisteX3" fmla="*/ 3454400 w 3454400"/>
              <a:gd name="connsiteY3" fmla="*/ 203200 h 4114800"/>
              <a:gd name="connisteX4" fmla="*/ 3454400 w 3454400"/>
              <a:gd name="connsiteY4" fmla="*/ 3911600 h 4114800"/>
              <a:gd name="connisteX5" fmla="*/ 3251200 w 3454400"/>
              <a:gd name="connsiteY5" fmla="*/ 4114800 h 4114800"/>
              <a:gd name="connisteX6" fmla="*/ 203200 w 3454400"/>
              <a:gd name="connsiteY6" fmla="*/ 4114800 h 4114800"/>
              <a:gd name="connisteX7" fmla="*/ 0 w 3454400"/>
              <a:gd name="connsiteY7" fmla="*/ 3911600 h 4114800"/>
              <a:gd name="connisteX8" fmla="*/ 0 w 3454400"/>
              <a:gd name="connsiteY8" fmla="*/ 203200 h 411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1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11600"/>
                </a:lnTo>
                <a:cubicBezTo>
                  <a:pt x="3454400" y="4023824"/>
                  <a:pt x="3363424" y="4114800"/>
                  <a:pt x="3251200" y="4114800"/>
                </a:cubicBezTo>
                <a:lnTo>
                  <a:pt x="203200" y="4114800"/>
                </a:lnTo>
                <a:cubicBezTo>
                  <a:pt x="90976" y="4114800"/>
                  <a:pt x="0" y="4023824"/>
                  <a:pt x="0" y="391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8128000" y="5943600"/>
            <a:ext cx="34544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85.xml"/><Relationship Id="rId18" Type="http://schemas.openxmlformats.org/officeDocument/2006/relationships/tags" Target="../tags/tag84.xml"/><Relationship Id="rId17" Type="http://schemas.openxmlformats.org/officeDocument/2006/relationships/tags" Target="../tags/tag83.xml"/><Relationship Id="rId16" Type="http://schemas.openxmlformats.org/officeDocument/2006/relationships/tags" Target="../tags/tag82.xml"/><Relationship Id="rId15" Type="http://schemas.openxmlformats.org/officeDocument/2006/relationships/tags" Target="../tags/tag81.xml"/><Relationship Id="rId14" Type="http://schemas.openxmlformats.org/officeDocument/2006/relationships/tags" Target="../tags/tag8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9" Type="http://schemas.openxmlformats.org/officeDocument/2006/relationships/tags" Target="../tags/tag170.xml"/><Relationship Id="rId18" Type="http://schemas.openxmlformats.org/officeDocument/2006/relationships/tags" Target="../tags/tag169.xml"/><Relationship Id="rId17" Type="http://schemas.openxmlformats.org/officeDocument/2006/relationships/tags" Target="../tags/tag168.xml"/><Relationship Id="rId16" Type="http://schemas.openxmlformats.org/officeDocument/2006/relationships/tags" Target="../tags/tag167.xml"/><Relationship Id="rId15" Type="http://schemas.openxmlformats.org/officeDocument/2006/relationships/tags" Target="../tags/tag166.xml"/><Relationship Id="rId14" Type="http://schemas.openxmlformats.org/officeDocument/2006/relationships/tags" Target="../tags/tag165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325" y="1283335"/>
            <a:ext cx="10801350" cy="489458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325" y="6356350"/>
            <a:ext cx="2886075" cy="365125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610600" y="6356350"/>
            <a:ext cx="2884200" cy="365125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325" y="1283335"/>
            <a:ext cx="10801350" cy="489458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325" y="6356350"/>
            <a:ext cx="2886075" cy="365125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610600" y="6356350"/>
            <a:ext cx="2884200" cy="365125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" Type="http://schemas.openxmlformats.org/officeDocument/2006/relationships/tags" Target="../tags/tag17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81.xml"/><Relationship Id="rId8" Type="http://schemas.openxmlformats.org/officeDocument/2006/relationships/tags" Target="../tags/tag180.xml"/><Relationship Id="rId7" Type="http://schemas.openxmlformats.org/officeDocument/2006/relationships/tags" Target="../tags/tag179.xml"/><Relationship Id="rId6" Type="http://schemas.openxmlformats.org/officeDocument/2006/relationships/tags" Target="../tags/tag178.xml"/><Relationship Id="rId5" Type="http://schemas.openxmlformats.org/officeDocument/2006/relationships/tags" Target="../tags/tag177.xml"/><Relationship Id="rId4" Type="http://schemas.openxmlformats.org/officeDocument/2006/relationships/tags" Target="../tags/tag176.xml"/><Relationship Id="rId3" Type="http://schemas.openxmlformats.org/officeDocument/2006/relationships/tags" Target="../tags/tag175.xml"/><Relationship Id="rId2" Type="http://schemas.openxmlformats.org/officeDocument/2006/relationships/image" Target="../media/image5.png"/><Relationship Id="rId13" Type="http://schemas.openxmlformats.org/officeDocument/2006/relationships/slideLayout" Target="../slideLayouts/slideLayout12.xml"/><Relationship Id="rId12" Type="http://schemas.openxmlformats.org/officeDocument/2006/relationships/tags" Target="../tags/tag184.xml"/><Relationship Id="rId11" Type="http://schemas.openxmlformats.org/officeDocument/2006/relationships/tags" Target="../tags/tag183.xml"/><Relationship Id="rId10" Type="http://schemas.openxmlformats.org/officeDocument/2006/relationships/tags" Target="../tags/tag182.xml"/><Relationship Id="rId1" Type="http://schemas.openxmlformats.org/officeDocument/2006/relationships/tags" Target="../tags/tag174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5.xml"/><Relationship Id="rId5" Type="http://schemas.openxmlformats.org/officeDocument/2006/relationships/tags" Target="../tags/tag188.xml"/><Relationship Id="rId4" Type="http://schemas.openxmlformats.org/officeDocument/2006/relationships/image" Target="../media/image6.jpeg"/><Relationship Id="rId3" Type="http://schemas.openxmlformats.org/officeDocument/2006/relationships/tags" Target="../tags/tag187.xml"/><Relationship Id="rId2" Type="http://schemas.openxmlformats.org/officeDocument/2006/relationships/tags" Target="../tags/tag186.xml"/><Relationship Id="rId1" Type="http://schemas.openxmlformats.org/officeDocument/2006/relationships/tags" Target="../tags/tag18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96.xml"/><Relationship Id="rId8" Type="http://schemas.openxmlformats.org/officeDocument/2006/relationships/tags" Target="../tags/tag195.xml"/><Relationship Id="rId7" Type="http://schemas.openxmlformats.org/officeDocument/2006/relationships/tags" Target="../tags/tag194.xml"/><Relationship Id="rId6" Type="http://schemas.openxmlformats.org/officeDocument/2006/relationships/tags" Target="../tags/tag193.xml"/><Relationship Id="rId5" Type="http://schemas.openxmlformats.org/officeDocument/2006/relationships/tags" Target="../tags/tag192.xml"/><Relationship Id="rId4" Type="http://schemas.openxmlformats.org/officeDocument/2006/relationships/tags" Target="../tags/tag191.xml"/><Relationship Id="rId3" Type="http://schemas.openxmlformats.org/officeDocument/2006/relationships/tags" Target="../tags/tag190.xml"/><Relationship Id="rId2" Type="http://schemas.openxmlformats.org/officeDocument/2006/relationships/image" Target="../media/image7.png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25.xml"/><Relationship Id="rId13" Type="http://schemas.openxmlformats.org/officeDocument/2006/relationships/tags" Target="../tags/tag200.xml"/><Relationship Id="rId12" Type="http://schemas.openxmlformats.org/officeDocument/2006/relationships/tags" Target="../tags/tag199.xml"/><Relationship Id="rId11" Type="http://schemas.openxmlformats.org/officeDocument/2006/relationships/tags" Target="../tags/tag198.xml"/><Relationship Id="rId10" Type="http://schemas.openxmlformats.org/officeDocument/2006/relationships/tags" Target="../tags/tag197.xml"/><Relationship Id="rId1" Type="http://schemas.openxmlformats.org/officeDocument/2006/relationships/tags" Target="../tags/tag18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08.xml"/><Relationship Id="rId8" Type="http://schemas.openxmlformats.org/officeDocument/2006/relationships/tags" Target="../tags/tag207.xml"/><Relationship Id="rId7" Type="http://schemas.openxmlformats.org/officeDocument/2006/relationships/tags" Target="../tags/tag206.xml"/><Relationship Id="rId6" Type="http://schemas.openxmlformats.org/officeDocument/2006/relationships/tags" Target="../tags/tag205.xml"/><Relationship Id="rId5" Type="http://schemas.openxmlformats.org/officeDocument/2006/relationships/tags" Target="../tags/tag204.xml"/><Relationship Id="rId4" Type="http://schemas.openxmlformats.org/officeDocument/2006/relationships/tags" Target="../tags/tag203.xml"/><Relationship Id="rId3" Type="http://schemas.openxmlformats.org/officeDocument/2006/relationships/image" Target="../media/image8.png"/><Relationship Id="rId2" Type="http://schemas.openxmlformats.org/officeDocument/2006/relationships/tags" Target="../tags/tag202.xml"/><Relationship Id="rId13" Type="http://schemas.openxmlformats.org/officeDocument/2006/relationships/slideLayout" Target="../slideLayouts/slideLayout4.xml"/><Relationship Id="rId12" Type="http://schemas.openxmlformats.org/officeDocument/2006/relationships/tags" Target="../tags/tag211.xml"/><Relationship Id="rId11" Type="http://schemas.openxmlformats.org/officeDocument/2006/relationships/tags" Target="../tags/tag210.xml"/><Relationship Id="rId10" Type="http://schemas.openxmlformats.org/officeDocument/2006/relationships/tags" Target="../tags/tag209.xml"/><Relationship Id="rId1" Type="http://schemas.openxmlformats.org/officeDocument/2006/relationships/tags" Target="../tags/tag201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5.xml"/><Relationship Id="rId5" Type="http://schemas.openxmlformats.org/officeDocument/2006/relationships/tags" Target="../tags/tag215.xml"/><Relationship Id="rId4" Type="http://schemas.openxmlformats.org/officeDocument/2006/relationships/tags" Target="../tags/tag214.xml"/><Relationship Id="rId3" Type="http://schemas.openxmlformats.org/officeDocument/2006/relationships/image" Target="../media/image9.jpeg"/><Relationship Id="rId2" Type="http://schemas.openxmlformats.org/officeDocument/2006/relationships/tags" Target="../tags/tag213.xml"/><Relationship Id="rId1" Type="http://schemas.openxmlformats.org/officeDocument/2006/relationships/tags" Target="../tags/tag21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18.xml"/><Relationship Id="rId2" Type="http://schemas.openxmlformats.org/officeDocument/2006/relationships/tags" Target="../tags/tag217.xml"/><Relationship Id="rId1" Type="http://schemas.openxmlformats.org/officeDocument/2006/relationships/tags" Target="../tags/tag2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20.xml"/><Relationship Id="rId1" Type="http://schemas.openxmlformats.org/officeDocument/2006/relationships/tags" Target="../tags/tag2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22.xml"/><Relationship Id="rId1" Type="http://schemas.openxmlformats.org/officeDocument/2006/relationships/tags" Target="../tags/tag221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25.xml"/><Relationship Id="rId3" Type="http://schemas.openxmlformats.org/officeDocument/2006/relationships/image" Target="../media/image10.png"/><Relationship Id="rId2" Type="http://schemas.openxmlformats.org/officeDocument/2006/relationships/tags" Target="../tags/tag224.xml"/><Relationship Id="rId1" Type="http://schemas.openxmlformats.org/officeDocument/2006/relationships/tags" Target="../tags/tag223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34.xml"/><Relationship Id="rId8" Type="http://schemas.openxmlformats.org/officeDocument/2006/relationships/tags" Target="../tags/tag233.xml"/><Relationship Id="rId7" Type="http://schemas.openxmlformats.org/officeDocument/2006/relationships/tags" Target="../tags/tag232.xml"/><Relationship Id="rId6" Type="http://schemas.openxmlformats.org/officeDocument/2006/relationships/tags" Target="../tags/tag231.xml"/><Relationship Id="rId5" Type="http://schemas.openxmlformats.org/officeDocument/2006/relationships/tags" Target="../tags/tag230.xml"/><Relationship Id="rId4" Type="http://schemas.openxmlformats.org/officeDocument/2006/relationships/tags" Target="../tags/tag229.xml"/><Relationship Id="rId3" Type="http://schemas.openxmlformats.org/officeDocument/2006/relationships/tags" Target="../tags/tag228.xml"/><Relationship Id="rId2" Type="http://schemas.openxmlformats.org/officeDocument/2006/relationships/tags" Target="../tags/tag227.xml"/><Relationship Id="rId16" Type="http://schemas.openxmlformats.org/officeDocument/2006/relationships/notesSlide" Target="../notesSlides/notesSlide5.xml"/><Relationship Id="rId15" Type="http://schemas.openxmlformats.org/officeDocument/2006/relationships/slideLayout" Target="../slideLayouts/slideLayout12.xml"/><Relationship Id="rId14" Type="http://schemas.openxmlformats.org/officeDocument/2006/relationships/tags" Target="../tags/tag236.xml"/><Relationship Id="rId13" Type="http://schemas.openxmlformats.org/officeDocument/2006/relationships/image" Target="../media/image13.jpeg"/><Relationship Id="rId12" Type="http://schemas.openxmlformats.org/officeDocument/2006/relationships/image" Target="../media/image12.jpeg"/><Relationship Id="rId11" Type="http://schemas.openxmlformats.org/officeDocument/2006/relationships/image" Target="../media/image11.jpeg"/><Relationship Id="rId10" Type="http://schemas.openxmlformats.org/officeDocument/2006/relationships/tags" Target="../tags/tag235.xml"/><Relationship Id="rId1" Type="http://schemas.openxmlformats.org/officeDocument/2006/relationships/tags" Target="../tags/tag22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238.xml"/><Relationship Id="rId1" Type="http://schemas.openxmlformats.org/officeDocument/2006/relationships/tags" Target="../tags/tag23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0.xml"/><Relationship Id="rId1" Type="http://schemas.openxmlformats.org/officeDocument/2006/relationships/tags" Target="../tags/tag2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702945" y="771525"/>
            <a:ext cx="7680325" cy="2435225"/>
          </a:xfrm>
        </p:spPr>
        <p:txBody>
          <a:bodyPr>
            <a:normAutofit/>
          </a:bodyPr>
          <a:p>
            <a:r>
              <a:rPr lang="en-US" altLang="zh-CN"/>
              <a:t>Sentiment Analysis on</a:t>
            </a:r>
            <a:br>
              <a:rPr lang="en-US" altLang="zh-CN"/>
            </a:br>
            <a:r>
              <a:rPr lang="en-US" altLang="zh-CN"/>
              <a:t>Public Momentum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702945" y="3897630"/>
            <a:ext cx="5337175" cy="550545"/>
          </a:xfrm>
        </p:spPr>
        <p:txBody>
          <a:bodyPr>
            <a:normAutofit fontScale="80000"/>
          </a:bodyPr>
          <a:p>
            <a:r>
              <a:rPr lang="en-US" altLang="zh-CN"/>
              <a:t>Predicting Stock Trends (ABNB) using FinBERT &amp; Python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702945" y="5742305"/>
            <a:ext cx="5074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dirty="0" err="1" smtClean="0">
                <a:solidFill>
                  <a:schemeClr val="accent1"/>
                </a:solidFill>
              </a:rPr>
              <a:t>Qiyun Lu | Trine University | IS 5803 Capstone</a:t>
            </a:r>
            <a:endParaRPr lang="en-US" altLang="zh-CN" dirty="0" err="1" smtClean="0">
              <a:solidFill>
                <a:schemeClr val="accent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装饰  6"/>
          <p:cNvSpPr>
            <a:spLocks noGrp="1"/>
          </p:cNvSpPr>
          <p:nvPr>
            <p:ph type="body" idx="16392"/>
            <p:custDataLst>
              <p:tags r:id="rId1"/>
            </p:custDataLst>
          </p:nvPr>
        </p:nvSpPr>
        <p:spPr>
          <a:xfrm>
            <a:off x="609600" y="2082800"/>
            <a:ext cx="3454400" cy="3554095"/>
          </a:xfrm>
          <a:blipFill>
            <a:blip r:embed="rId2"/>
          </a:blipFill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>
          <a:xfrm>
            <a:off x="914400" y="2491105"/>
            <a:ext cx="2844800" cy="669925"/>
          </a:xfrm>
        </p:spPr>
        <p:txBody>
          <a:bodyPr>
            <a:normAutofit/>
          </a:bodyPr>
          <a:p>
            <a:pPr algn="ctr"/>
            <a:r>
              <a:rPr lang="en-US" altLang="zh-CN" sz="3600" b="1">
                <a:solidFill>
                  <a:schemeClr val="bg1"/>
                </a:solidFill>
                <a:sym typeface="+mn-ea"/>
              </a:rPr>
              <a:t>It's Magic</a:t>
            </a:r>
            <a:endParaRPr lang="en-US" altLang="zh-CN" sz="3600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>
          <a:xfrm>
            <a:off x="914400" y="3351530"/>
            <a:ext cx="2844800" cy="1995170"/>
          </a:xfrm>
        </p:spPr>
        <p:txBody>
          <a:bodyPr/>
          <a:p>
            <a:pPr algn="ctr"/>
            <a:r>
              <a:rPr lang="en-US" altLang="zh-CN" sz="2400">
                <a:solidFill>
                  <a:schemeClr val="bg1"/>
                </a:solidFill>
                <a:sym typeface="+mn-ea"/>
              </a:rPr>
              <a:t>Machine Learning feels like wizardry. I wanted to cast some spells.</a:t>
            </a:r>
            <a:endParaRPr lang="en-US" altLang="zh-CN" sz="2400">
              <a:solidFill>
                <a:schemeClr val="bg1"/>
              </a:solidFill>
              <a:sym typeface="+mn-ea"/>
            </a:endParaRPr>
          </a:p>
        </p:txBody>
      </p:sp>
      <p:sp>
        <p:nvSpPr>
          <p:cNvPr id="12" name="标题 1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53415" y="314325"/>
            <a:ext cx="10928985" cy="841375"/>
          </a:xfrm>
        </p:spPr>
        <p:txBody>
          <a:bodyPr>
            <a:noAutofit/>
          </a:bodyPr>
          <a:p>
            <a:r>
              <a:rPr lang="en-US" altLang="zh-CN" sz="4800" b="1">
                <a:solidFill>
                  <a:srgbClr val="5C52BA"/>
                </a:solidFill>
              </a:rPr>
              <a:t>Why This Project?</a:t>
            </a:r>
            <a:endParaRPr lang="en-US" altLang="zh-CN" sz="4800" b="1">
              <a:solidFill>
                <a:srgbClr val="5C52BA"/>
              </a:solidFill>
            </a:endParaRPr>
          </a:p>
        </p:txBody>
      </p:sp>
      <p:sp>
        <p:nvSpPr>
          <p:cNvPr id="14" name="装饰  6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128000" y="2082800"/>
            <a:ext cx="3454400" cy="3554095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blipFill>
            <a:blip r:embed="rId2"/>
          </a:blip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wrap="squar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8432800" y="2491105"/>
            <a:ext cx="2844800" cy="6699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b="1">
                <a:solidFill>
                  <a:schemeClr val="bg1"/>
                </a:solidFill>
                <a:sym typeface="+mn-ea"/>
              </a:rPr>
              <a:t>Challenges</a:t>
            </a:r>
            <a:endParaRPr lang="en-US" altLang="zh-CN" sz="3600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16" name="文本占位符 4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8432800" y="3351530"/>
            <a:ext cx="2844800" cy="199517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>
                <a:solidFill>
                  <a:schemeClr val="bg1"/>
                </a:solidFill>
                <a:sym typeface="+mn-ea"/>
              </a:rPr>
              <a:t>Turning messy internet text into clean, tradable math.</a:t>
            </a:r>
            <a:endParaRPr lang="en-US" altLang="zh-CN" sz="2400">
              <a:solidFill>
                <a:schemeClr val="bg1"/>
              </a:solidFill>
              <a:sym typeface="+mn-ea"/>
            </a:endParaRPr>
          </a:p>
        </p:txBody>
      </p:sp>
      <p:sp>
        <p:nvSpPr>
          <p:cNvPr id="18" name="装饰  6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368800" y="2082800"/>
            <a:ext cx="3454400" cy="3554095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blipFill>
            <a:blip r:embed="rId2"/>
          </a:blip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wrap="squar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文本占位符 3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4673600" y="2491105"/>
            <a:ext cx="2844800" cy="6699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b="1">
                <a:solidFill>
                  <a:schemeClr val="bg1"/>
                </a:solidFill>
                <a:sym typeface="+mn-ea"/>
              </a:rPr>
              <a:t>The Money</a:t>
            </a:r>
            <a:endParaRPr lang="en-US" altLang="zh-CN" sz="3600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20" name="文本占位符 4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4673600" y="3351530"/>
            <a:ext cx="2844800" cy="199517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2400">
                <a:solidFill>
                  <a:schemeClr val="bg1"/>
                </a:solidFill>
                <a:sym typeface="+mn-ea"/>
              </a:rPr>
              <a:t>Let's be honest. Who doesn't want to predict the future and profit?</a:t>
            </a:r>
            <a:endParaRPr lang="en-US" altLang="zh-CN" sz="2400">
              <a:solidFill>
                <a:schemeClr val="bg1"/>
              </a:solidFill>
              <a:sym typeface="+mn-ea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en-US" altLang="zh-CN" sz="4800"/>
              <a:t>The David vs. Goliath Problem</a:t>
            </a:r>
            <a:endParaRPr lang="en-US" altLang="zh-CN" sz="480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325" y="1802130"/>
            <a:ext cx="5324475" cy="4375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 sz="3600" b="1"/>
              <a:t>The Reality</a:t>
            </a:r>
            <a:endParaRPr lang="en-US" altLang="zh-CN" sz="3600" b="1"/>
          </a:p>
          <a:p>
            <a:pPr marL="0" indent="0">
              <a:buNone/>
            </a:pPr>
            <a:r>
              <a:rPr lang="en-US" altLang="zh-CN"/>
              <a:t>Hedge funds have supercomputers and army of PhDs.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Retail investors (us) usually just have Reddit and a gut feeling.</a:t>
            </a:r>
            <a:endParaRPr lang="en-US" altLang="zh-CN"/>
          </a:p>
          <a:p>
            <a:pPr marL="0" indent="0">
              <a:buNone/>
            </a:pPr>
            <a:r>
              <a:rPr lang="en-US" altLang="zh-CN" b="1"/>
              <a:t>My Goal</a:t>
            </a:r>
            <a:r>
              <a:rPr lang="en-US" altLang="zh-CN"/>
              <a:t>: Build a low-overhead, "poor man's Bloomberg" that fits on a laptop.</a:t>
            </a:r>
            <a:endParaRPr lang="en-US" altLang="zh-CN"/>
          </a:p>
        </p:txBody>
      </p:sp>
      <p:pic>
        <p:nvPicPr>
          <p:cNvPr id="5" name="内容占位符 4" descr="david-and-goliath"/>
          <p:cNvPicPr>
            <a:picLocks noChangeAspect="1"/>
          </p:cNvPicPr>
          <p:nvPr>
            <p:ph sz="half" idx="2"/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967855" y="1398270"/>
            <a:ext cx="4119245" cy="490156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570990" y="18021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endParaRPr lang="zh-CN" altLang="en-US" dirty="0" err="1" smtClean="0">
              <a:solidFill>
                <a:schemeClr val="accent1"/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装饰  6"/>
          <p:cNvSpPr>
            <a:spLocks noGrp="1"/>
          </p:cNvSpPr>
          <p:nvPr>
            <p:ph type="body" idx="16392"/>
            <p:custDataLst>
              <p:tags r:id="rId1"/>
            </p:custDataLst>
          </p:nvPr>
        </p:nvSpPr>
        <p:spPr>
          <a:xfrm>
            <a:off x="609600" y="2362835"/>
            <a:ext cx="3454400" cy="3910330"/>
          </a:xfrm>
          <a:blipFill>
            <a:blip r:embed="rId2"/>
          </a:blipFill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>
          <a:xfrm>
            <a:off x="914400" y="2771140"/>
            <a:ext cx="2844800" cy="669925"/>
          </a:xfrm>
        </p:spPr>
        <p:txBody>
          <a:bodyPr>
            <a:normAutofit/>
          </a:bodyPr>
          <a:p>
            <a:pPr algn="ctr"/>
            <a:r>
              <a:rPr lang="en-US" altLang="zh-CN" sz="3200" b="1">
                <a:solidFill>
                  <a:schemeClr val="bg1"/>
                </a:solidFill>
                <a:sym typeface="+mn-ea"/>
              </a:rPr>
              <a:t>Why FinBERT?</a:t>
            </a:r>
            <a:endParaRPr lang="en-US" altLang="zh-CN" sz="3200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>
          <a:xfrm>
            <a:off x="914400" y="4132580"/>
            <a:ext cx="2844800" cy="1856740"/>
          </a:xfrm>
        </p:spPr>
        <p:txBody>
          <a:bodyPr>
            <a:noAutofit/>
          </a:bodyPr>
          <a:p>
            <a:pPr marL="0" indent="0" algn="ctr">
              <a:buNone/>
            </a:pPr>
            <a:r>
              <a:rPr lang="en-US" altLang="zh-CN" sz="1800">
                <a:solidFill>
                  <a:schemeClr val="bg1"/>
                </a:solidFill>
                <a:sym typeface="+mn-ea"/>
              </a:rPr>
              <a:t>Standard NLP fails on finance words like "liability" or "risk". FinBERT is domain-adapted to understand them.</a:t>
            </a:r>
            <a:endParaRPr lang="en-US" altLang="zh-CN" sz="1800">
              <a:solidFill>
                <a:schemeClr val="bg1"/>
              </a:solidFill>
              <a:sym typeface="+mn-ea"/>
            </a:endParaRPr>
          </a:p>
        </p:txBody>
      </p:sp>
      <p:sp>
        <p:nvSpPr>
          <p:cNvPr id="12" name="标题 1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53415" y="314325"/>
            <a:ext cx="10928985" cy="841375"/>
          </a:xfrm>
        </p:spPr>
        <p:txBody>
          <a:bodyPr>
            <a:noAutofit/>
          </a:bodyPr>
          <a:p>
            <a:r>
              <a:rPr lang="en-US" altLang="zh-CN" sz="4800" b="1">
                <a:solidFill>
                  <a:srgbClr val="5C52BA"/>
                </a:solidFill>
                <a:sym typeface="+mn-ea"/>
              </a:rPr>
              <a:t>Standing on the Shoulders of Giants</a:t>
            </a:r>
            <a:endParaRPr lang="en-US" altLang="zh-CN" sz="4800" b="1">
              <a:solidFill>
                <a:srgbClr val="5C52BA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82040" y="3618230"/>
            <a:ext cx="25101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i="1">
                <a:solidFill>
                  <a:schemeClr val="bg1"/>
                </a:solidFill>
                <a:sym typeface="+mn-ea"/>
              </a:rPr>
              <a:t>Jiang &amp; Zeng (2023)</a:t>
            </a:r>
            <a:endParaRPr lang="en-US" altLang="zh-CN" sz="1600" i="1" dirty="0" err="1" smtClean="0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装饰  6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128000" y="2362835"/>
            <a:ext cx="3454400" cy="391033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blipFill>
            <a:blip r:embed="rId2"/>
          </a:blip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wrap="squar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7" name="文本占位符 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8432800" y="2595880"/>
            <a:ext cx="2844800" cy="98361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b="1">
                <a:solidFill>
                  <a:schemeClr val="bg1"/>
                </a:solidFill>
                <a:sym typeface="+mn-ea"/>
              </a:rPr>
              <a:t>Why Simple Math?</a:t>
            </a:r>
            <a:endParaRPr lang="en-US" altLang="zh-CN" sz="3200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8432800" y="4132580"/>
            <a:ext cx="2844800" cy="18567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1800">
                <a:solidFill>
                  <a:schemeClr val="bg1"/>
                </a:solidFill>
                <a:sym typeface="+mn-ea"/>
              </a:rPr>
              <a:t>Retail investors need trust. Logistic Regression is transparent; Neural Networks are black boxes.</a:t>
            </a:r>
            <a:endParaRPr lang="en-US" altLang="zh-CN" sz="1800">
              <a:solidFill>
                <a:schemeClr val="bg1"/>
              </a:solidFill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599805" y="3618230"/>
            <a:ext cx="25101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i="1">
                <a:solidFill>
                  <a:schemeClr val="bg1"/>
                </a:solidFill>
                <a:sym typeface="+mn-ea"/>
              </a:rPr>
              <a:t>Lundberg &amp; Lee (2017)</a:t>
            </a:r>
            <a:endParaRPr lang="en-US" altLang="zh-CN" sz="1600" i="1" dirty="0" err="1" smtClean="0">
              <a:solidFill>
                <a:schemeClr val="bg1"/>
              </a:solidFill>
              <a:sym typeface="+mn-ea"/>
            </a:endParaRPr>
          </a:p>
        </p:txBody>
      </p:sp>
      <p:sp>
        <p:nvSpPr>
          <p:cNvPr id="10" name="装饰  6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368800" y="2362835"/>
            <a:ext cx="3454400" cy="391033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blipFill>
            <a:blip r:embed="rId2"/>
          </a:blip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wrap="squar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4673600" y="2771140"/>
            <a:ext cx="2844800" cy="6699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b="1">
                <a:solidFill>
                  <a:schemeClr val="bg1"/>
                </a:solidFill>
                <a:sym typeface="+mn-ea"/>
              </a:rPr>
              <a:t>Why 7 Days?</a:t>
            </a:r>
            <a:endParaRPr lang="en-US" altLang="zh-CN" sz="3200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13" name="文本占位符 4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4673600" y="4132580"/>
            <a:ext cx="2844800" cy="18567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1800">
                <a:solidFill>
                  <a:schemeClr val="bg1"/>
                </a:solidFill>
                <a:sym typeface="+mn-ea"/>
              </a:rPr>
              <a:t>News doesn't vanish instantly. It has a "decay curve." A 7-day rolling window captures the momentum tail.</a:t>
            </a:r>
            <a:endParaRPr lang="en-US" altLang="zh-CN" sz="1800">
              <a:solidFill>
                <a:schemeClr val="bg1"/>
              </a:solidFill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841240" y="3618230"/>
            <a:ext cx="25101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i="1">
                <a:solidFill>
                  <a:schemeClr val="bg1"/>
                </a:solidFill>
                <a:sym typeface="+mn-ea"/>
              </a:rPr>
              <a:t>Boyd (2019)</a:t>
            </a:r>
            <a:endParaRPr lang="en-US" altLang="zh-CN" sz="1600" i="1" dirty="0" err="1" smtClean="0">
              <a:solidFill>
                <a:schemeClr val="bg1"/>
              </a:solidFill>
              <a:sym typeface="+mn-ea"/>
            </a:endParaRPr>
          </a:p>
        </p:txBody>
      </p:sp>
      <p:sp>
        <p:nvSpPr>
          <p:cNvPr id="21" name="内容占位符 1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94690" y="1402080"/>
            <a:ext cx="10799445" cy="66611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/>
              <a:t>I didn't guess. I followed the literature.</a:t>
            </a:r>
            <a:endParaRPr lang="en-US" altLang="zh-CN"/>
          </a:p>
        </p:txBody>
      </p:sp>
    </p:spTree>
    <p:custDataLst>
      <p:tags r:id="rId1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sz="quarter" idx="13"/>
            <p:custDataLst>
              <p:tags r:id="rId1"/>
            </p:custDataLst>
          </p:nvPr>
        </p:nvSpPr>
        <p:spPr>
          <a:xfrm>
            <a:off x="5521325" y="349250"/>
            <a:ext cx="5892800" cy="866775"/>
          </a:xfrm>
        </p:spPr>
        <p:txBody>
          <a:bodyPr/>
          <a:p>
            <a:pPr algn="ctr"/>
            <a:r>
              <a:rPr lang="en-US" altLang="zh-CN">
                <a:sym typeface="+mn-ea"/>
              </a:rPr>
              <a:t>The Pipeline</a:t>
            </a:r>
            <a:endParaRPr lang="en-US" altLang="zh-CN"/>
          </a:p>
        </p:txBody>
      </p:sp>
      <p:sp>
        <p:nvSpPr>
          <p:cNvPr id="9" name="装饰 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584825" y="1558290"/>
            <a:ext cx="5765800" cy="127635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blipFill>
            <a:blip r:embed="rId3"/>
          </a:blip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wrap="squar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0" name="文本占位符 3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045325" y="1558290"/>
            <a:ext cx="2844800" cy="50101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>
                <a:solidFill>
                  <a:schemeClr val="bg1"/>
                </a:solidFill>
                <a:sym typeface="+mn-ea"/>
              </a:rPr>
              <a:t>1. Scrape</a:t>
            </a:r>
            <a:endParaRPr lang="en-US" altLang="zh-CN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11" name="文本占位符 4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287135" y="2059305"/>
            <a:ext cx="4360545" cy="774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1800">
                <a:solidFill>
                  <a:schemeClr val="bg1"/>
                </a:solidFill>
                <a:sym typeface="+mn-ea"/>
              </a:rPr>
              <a:t>Google News, Yahoo Finance, Blogs.</a:t>
            </a:r>
            <a:endParaRPr lang="en-US" altLang="zh-CN" sz="180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altLang="zh-CN" sz="1800">
                <a:solidFill>
                  <a:schemeClr val="bg1"/>
                </a:solidFill>
                <a:sym typeface="+mn-ea"/>
              </a:rPr>
              <a:t>(Python + GDELT)</a:t>
            </a:r>
            <a:endParaRPr lang="en-US" altLang="zh-CN" sz="1800">
              <a:solidFill>
                <a:schemeClr val="bg1"/>
              </a:solidFill>
              <a:sym typeface="+mn-ea"/>
            </a:endParaRPr>
          </a:p>
        </p:txBody>
      </p:sp>
      <p:sp>
        <p:nvSpPr>
          <p:cNvPr id="19" name="装饰  6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5584825" y="5176520"/>
            <a:ext cx="5765800" cy="127635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blipFill>
            <a:blip r:embed="rId3"/>
          </a:blip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wrap="squar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0" name="文本占位符 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7045325" y="5176520"/>
            <a:ext cx="2844800" cy="50101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>
                <a:solidFill>
                  <a:schemeClr val="bg1"/>
                </a:solidFill>
                <a:sym typeface="+mn-ea"/>
              </a:rPr>
              <a:t>3. Solve</a:t>
            </a:r>
            <a:endParaRPr lang="en-US" altLang="zh-CN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21" name="文本占位符 4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028055" y="5677535"/>
            <a:ext cx="4879975" cy="774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1800">
                <a:solidFill>
                  <a:schemeClr val="bg1"/>
                </a:solidFill>
                <a:sym typeface="+mn-ea"/>
              </a:rPr>
              <a:t>Logistic Regression. Predict "Up" or "Down".</a:t>
            </a:r>
            <a:endParaRPr lang="en-US" altLang="zh-CN" sz="180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altLang="zh-CN" sz="1800">
                <a:solidFill>
                  <a:schemeClr val="bg1"/>
                </a:solidFill>
                <a:sym typeface="+mn-ea"/>
              </a:rPr>
              <a:t>(Scikit-Learn)</a:t>
            </a:r>
            <a:endParaRPr lang="en-US" altLang="zh-CN" sz="1800">
              <a:solidFill>
                <a:schemeClr val="bg1"/>
              </a:solidFill>
              <a:sym typeface="+mn-ea"/>
            </a:endParaRPr>
          </a:p>
        </p:txBody>
      </p:sp>
      <p:sp>
        <p:nvSpPr>
          <p:cNvPr id="22" name="装饰  6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5584825" y="3367405"/>
            <a:ext cx="5765800" cy="127635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blipFill>
            <a:blip r:embed="rId3"/>
          </a:blip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wrap="squar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3" name="文本占位符 3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7045325" y="3367405"/>
            <a:ext cx="2844800" cy="50101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>
                <a:solidFill>
                  <a:schemeClr val="bg1"/>
                </a:solidFill>
                <a:sym typeface="+mn-ea"/>
              </a:rPr>
              <a:t>2. Sense</a:t>
            </a:r>
            <a:endParaRPr lang="en-US" altLang="zh-CN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24" name="文本占位符 4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287135" y="3868420"/>
            <a:ext cx="4360545" cy="774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1800">
                <a:solidFill>
                  <a:schemeClr val="bg1"/>
                </a:solidFill>
                <a:sym typeface="+mn-ea"/>
              </a:rPr>
              <a:t>Classify Title &amp; Content.</a:t>
            </a:r>
            <a:endParaRPr lang="en-US" altLang="zh-CN" sz="180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altLang="zh-CN" sz="1800">
                <a:solidFill>
                  <a:schemeClr val="bg1"/>
                </a:solidFill>
                <a:sym typeface="+mn-ea"/>
              </a:rPr>
              <a:t>(HuggingFace Transformers)</a:t>
            </a:r>
            <a:endParaRPr lang="en-US" altLang="zh-CN" sz="1800">
              <a:solidFill>
                <a:schemeClr val="bg1"/>
              </a:solidFill>
              <a:sym typeface="+mn-ea"/>
            </a:endParaRPr>
          </a:p>
        </p:txBody>
      </p:sp>
      <p:sp>
        <p:nvSpPr>
          <p:cNvPr id="25" name="下箭头 24"/>
          <p:cNvSpPr/>
          <p:nvPr/>
        </p:nvSpPr>
        <p:spPr>
          <a:xfrm>
            <a:off x="8225155" y="2781300"/>
            <a:ext cx="485775" cy="64325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下箭头 25"/>
          <p:cNvSpPr/>
          <p:nvPr/>
        </p:nvSpPr>
        <p:spPr>
          <a:xfrm>
            <a:off x="8225155" y="4578985"/>
            <a:ext cx="485775" cy="64325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en-US" altLang="zh-CN" sz="4800"/>
              <a:t>The Struggle Was Real</a:t>
            </a:r>
            <a:endParaRPr lang="en-US" altLang="zh-CN" sz="4800"/>
          </a:p>
        </p:txBody>
      </p:sp>
      <p:pic>
        <p:nvPicPr>
          <p:cNvPr id="5" name="内容占位符 4" descr="sisyphean-task"/>
          <p:cNvPicPr>
            <a:picLocks noChangeAspect="1"/>
          </p:cNvPicPr>
          <p:nvPr>
            <p:ph sz="half"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332865" y="1464310"/>
            <a:ext cx="3518535" cy="4757420"/>
          </a:xfrm>
          <a:prstGeom prst="rect">
            <a:avLst/>
          </a:prstGeom>
        </p:spPr>
      </p:pic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796415"/>
            <a:ext cx="5322570" cy="4381500"/>
          </a:xfrm>
        </p:spPr>
        <p:txBody>
          <a:bodyPr/>
          <a:p>
            <a:r>
              <a:rPr lang="en-US" altLang="zh-CN" b="1"/>
              <a:t>My PC is Dying</a:t>
            </a:r>
            <a:r>
              <a:rPr lang="en-US" altLang="zh-CN"/>
              <a:t>: Running BERT on an old CPU is... a patience builder.</a:t>
            </a:r>
            <a:endParaRPr lang="en-US" altLang="zh-CN"/>
          </a:p>
          <a:p>
            <a:r>
              <a:rPr lang="en-US" altLang="zh-CN" b="1"/>
              <a:t>Sparse Data</a:t>
            </a:r>
            <a:r>
              <a:rPr lang="en-US" altLang="zh-CN"/>
              <a:t>: Some days, nobody talks about Airbnb. I had to use "Forward Fill" to plug the gaps.</a:t>
            </a:r>
            <a:endParaRPr lang="en-US" altLang="zh-CN"/>
          </a:p>
          <a:p>
            <a:r>
              <a:rPr lang="en-US" altLang="zh-CN" b="1"/>
              <a:t>Environment Hell</a:t>
            </a:r>
            <a:r>
              <a:rPr lang="en-US" altLang="zh-CN"/>
              <a:t>: PyTorch vs. TensorFlow compatibility issues on Mac.</a:t>
            </a:r>
            <a:endParaRPr lang="en-US" altLang="zh-CN"/>
          </a:p>
        </p:txBody>
      </p:sp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标注 4"/>
          <p:cNvSpPr/>
          <p:nvPr/>
        </p:nvSpPr>
        <p:spPr>
          <a:xfrm>
            <a:off x="2387600" y="1772920"/>
            <a:ext cx="7416800" cy="3312160"/>
          </a:xfrm>
          <a:prstGeom prst="wedgeRectCallou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493010" y="2245360"/>
            <a:ext cx="7203440" cy="1183640"/>
          </a:xfrm>
        </p:spPr>
        <p:txBody>
          <a:bodyPr>
            <a:noAutofit/>
          </a:bodyPr>
          <a:p>
            <a:pPr algn="ctr"/>
            <a:r>
              <a:rPr lang="en-US" altLang="zh-CN" sz="4800">
                <a:solidFill>
                  <a:schemeClr val="bg1"/>
                </a:solidFill>
                <a:sym typeface="+mn-ea"/>
              </a:rPr>
              <a:t>Live Execution</a:t>
            </a:r>
            <a:endParaRPr lang="en-US" altLang="zh-CN" sz="4800">
              <a:solidFill>
                <a:schemeClr val="bg1"/>
              </a:solidFill>
              <a:sym typeface="+mn-ea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2860675" y="3429000"/>
            <a:ext cx="6470650" cy="1055370"/>
          </a:xfrm>
        </p:spPr>
        <p:txBody>
          <a:bodyPr/>
          <a:p>
            <a:pPr marL="0" indent="0" algn="ctr">
              <a:buNone/>
            </a:pPr>
            <a:r>
              <a:rPr lang="en-US" altLang="zh-CN" sz="3200">
                <a:solidFill>
                  <a:schemeClr val="bg1"/>
                </a:solidFill>
                <a:sym typeface="+mn-ea"/>
              </a:rPr>
              <a:t>Let's tempt the demo gods...</a:t>
            </a:r>
            <a:endParaRPr lang="en-US" altLang="zh-CN" sz="3200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笑脸 5"/>
          <p:cNvSpPr/>
          <p:nvPr/>
        </p:nvSpPr>
        <p:spPr>
          <a:xfrm>
            <a:off x="3419475" y="5612765"/>
            <a:ext cx="914400" cy="914400"/>
          </a:xfrm>
          <a:prstGeom prst="smileyFac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</a:rPr>
              <a:t>o</a:t>
            </a:r>
            <a:endParaRPr lang="en-US" altLang="zh-CN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7565" y="565150"/>
            <a:ext cx="10157460" cy="1081405"/>
          </a:xfrm>
        </p:spPr>
        <p:txBody>
          <a:bodyPr>
            <a:normAutofit/>
          </a:bodyPr>
          <a:p>
            <a:r>
              <a:rPr lang="en-US" altLang="zh-CN"/>
              <a:t>Finding #1: Headline Risk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6096000" y="1796415"/>
            <a:ext cx="4064000" cy="1599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8000" b="1" dirty="0" err="1" smtClean="0">
                <a:solidFill>
                  <a:srgbClr val="FF0000"/>
                </a:solidFill>
              </a:rPr>
              <a:t>-1.12</a:t>
            </a:r>
            <a:endParaRPr lang="en-US" altLang="zh-CN" dirty="0" err="1" smtClean="0">
              <a:solidFill>
                <a:schemeClr val="accent1"/>
              </a:solidFill>
            </a:endParaRPr>
          </a:p>
          <a:p>
            <a:pPr algn="ctr"/>
            <a:r>
              <a:rPr lang="en-US" altLang="zh-CN" dirty="0" err="1" smtClean="0">
                <a:solidFill>
                  <a:srgbClr val="FF0000"/>
                </a:solidFill>
              </a:rPr>
              <a:t>Coefficient for Negative Titles</a:t>
            </a:r>
            <a:endParaRPr lang="en-US" altLang="zh-CN" dirty="0" err="1" smtClean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43525" y="3840480"/>
            <a:ext cx="6163310" cy="2078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2400" b="1" dirty="0" err="1" smtClean="0">
                <a:solidFill>
                  <a:schemeClr val="accent1"/>
                </a:solidFill>
              </a:rPr>
              <a:t>Panic Selling is Real</a:t>
            </a:r>
            <a:endParaRPr lang="en-US" altLang="zh-CN" sz="2400" b="1" dirty="0" err="1" smtClean="0">
              <a:solidFill>
                <a:schemeClr val="accent1"/>
              </a:solidFill>
            </a:endParaRPr>
          </a:p>
          <a:p>
            <a:pPr algn="l"/>
            <a:r>
              <a:rPr lang="en-US" altLang="zh-CN" dirty="0" err="1" smtClean="0">
                <a:solidFill>
                  <a:schemeClr val="accent1"/>
                </a:solidFill>
              </a:rPr>
              <a:t>This was the strongest weight in the entire model. It proves that retail investors react impulsively to scary headlines before they even read the article.</a:t>
            </a:r>
            <a:endParaRPr lang="en-US" altLang="zh-CN" dirty="0" err="1" smtClean="0">
              <a:solidFill>
                <a:schemeClr val="accent1"/>
              </a:solidFill>
            </a:endParaRPr>
          </a:p>
          <a:p>
            <a:pPr algn="l"/>
            <a:endParaRPr lang="en-US" altLang="zh-CN" dirty="0" err="1" smtClean="0">
              <a:solidFill>
                <a:schemeClr val="accent1"/>
              </a:solidFill>
            </a:endParaRPr>
          </a:p>
          <a:p>
            <a:pPr algn="l"/>
            <a:r>
              <a:rPr lang="en-US" altLang="zh-CN" dirty="0" err="1" smtClean="0">
                <a:solidFill>
                  <a:srgbClr val="FF0000"/>
                </a:solidFill>
              </a:rPr>
              <a:t>"Bad news travels fast."</a:t>
            </a:r>
            <a:endParaRPr lang="en-US" altLang="zh-CN" dirty="0" err="1" smtClean="0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7565" y="565150"/>
            <a:ext cx="10175240" cy="1081405"/>
          </a:xfrm>
        </p:spPr>
        <p:txBody>
          <a:bodyPr>
            <a:normAutofit/>
          </a:bodyPr>
          <a:p>
            <a:r>
              <a:rPr lang="en-US" altLang="zh-CN"/>
              <a:t>Finding #2: The Anomaly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5193665" y="2068830"/>
            <a:ext cx="59880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600" b="1" dirty="0" err="1" smtClean="0">
                <a:solidFill>
                  <a:srgbClr val="FF0000"/>
                </a:solidFill>
              </a:rPr>
              <a:t>"Positive Content predicts a Price Drop?"</a:t>
            </a:r>
            <a:endParaRPr lang="en-US" altLang="zh-CN" sz="3600" b="1" dirty="0" err="1" smtClean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88610" y="3836670"/>
            <a:ext cx="613727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400" dirty="0" err="1" smtClean="0">
                <a:solidFill>
                  <a:schemeClr val="accent1"/>
                </a:solidFill>
              </a:rPr>
              <a:t>Yes. My model found a negative correlation (</a:t>
            </a:r>
            <a:r>
              <a:rPr lang="en-US" altLang="zh-CN" sz="2400" b="1" dirty="0" err="1" smtClean="0">
                <a:solidFill>
                  <a:schemeClr val="accent1"/>
                </a:solidFill>
              </a:rPr>
              <a:t>-0.14</a:t>
            </a:r>
            <a:r>
              <a:rPr lang="en-US" altLang="zh-CN" sz="2400" dirty="0" err="1" smtClean="0">
                <a:solidFill>
                  <a:schemeClr val="accent1"/>
                </a:solidFill>
              </a:rPr>
              <a:t>) for positive article bodies.</a:t>
            </a:r>
            <a:endParaRPr lang="en-US" altLang="zh-CN" sz="2400" dirty="0" err="1" smtClean="0">
              <a:solidFill>
                <a:schemeClr val="accent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88610" y="52362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dirty="0" err="1" smtClean="0">
                <a:solidFill>
                  <a:srgbClr val="FF0000"/>
                </a:solidFill>
              </a:rPr>
              <a:t>"Buy the Rumor, Sell the News."</a:t>
            </a:r>
            <a:endParaRPr lang="en-US" altLang="zh-CN" dirty="0" err="1" smtClean="0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1727835" y="1834515"/>
            <a:ext cx="3299460" cy="947420"/>
          </a:xfrm>
          <a:noFill/>
        </p:spPr>
        <p:txBody>
          <a:bodyPr lIns="71755" tIns="71755" rIns="71755" bIns="71755">
            <a:normAutofit/>
          </a:bodyPr>
          <a:p>
            <a:pPr marL="0" indent="0" algn="ctr">
              <a:buNone/>
            </a:pPr>
            <a:r>
              <a:rPr lang="en-US" altLang="zh-CN" sz="3600" b="1">
                <a:solidFill>
                  <a:srgbClr val="00B050"/>
                </a:solidFill>
              </a:rPr>
              <a:t>AUC: 0.55</a:t>
            </a:r>
            <a:endParaRPr lang="en-US" altLang="zh-CN" sz="3600" b="1">
              <a:solidFill>
                <a:srgbClr val="00B05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Autofit/>
          </a:bodyPr>
          <a:p>
            <a:r>
              <a:rPr lang="en-US" altLang="zh-CN" sz="4800"/>
              <a:t>The Results</a:t>
            </a:r>
            <a:endParaRPr lang="en-US" altLang="zh-CN" sz="4800"/>
          </a:p>
        </p:txBody>
      </p:sp>
      <p:sp>
        <p:nvSpPr>
          <p:cNvPr id="4" name="文本框 3"/>
          <p:cNvSpPr txBox="1"/>
          <p:nvPr/>
        </p:nvSpPr>
        <p:spPr>
          <a:xfrm>
            <a:off x="694690" y="3324225"/>
            <a:ext cx="5366385" cy="2493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dirty="0" err="1" smtClean="0">
                <a:solidFill>
                  <a:schemeClr val="accent1"/>
                </a:solidFill>
              </a:rPr>
              <a:t>Is it a crystal ball? </a:t>
            </a:r>
            <a:r>
              <a:rPr lang="en-US" altLang="zh-CN" b="1" dirty="0" err="1" smtClean="0">
                <a:solidFill>
                  <a:schemeClr val="accent1"/>
                </a:solidFill>
              </a:rPr>
              <a:t>No</a:t>
            </a:r>
            <a:r>
              <a:rPr lang="en-US" altLang="zh-CN" dirty="0" err="1" smtClean="0">
                <a:solidFill>
                  <a:schemeClr val="accent1"/>
                </a:solidFill>
              </a:rPr>
              <a:t>.</a:t>
            </a:r>
            <a:endParaRPr lang="en-US" altLang="zh-CN" dirty="0" err="1" smtClean="0">
              <a:solidFill>
                <a:schemeClr val="accent1"/>
              </a:solidFill>
            </a:endParaRPr>
          </a:p>
          <a:p>
            <a:pPr algn="l"/>
            <a:endParaRPr lang="en-US" altLang="zh-CN" dirty="0" err="1" smtClean="0">
              <a:solidFill>
                <a:schemeClr val="accent1"/>
              </a:solidFill>
            </a:endParaRPr>
          </a:p>
          <a:p>
            <a:pPr algn="l"/>
            <a:r>
              <a:rPr lang="en-US" altLang="zh-CN" dirty="0" err="1" smtClean="0">
                <a:solidFill>
                  <a:schemeClr val="accent1"/>
                </a:solidFill>
              </a:rPr>
              <a:t>Is it better than a random coin flip? </a:t>
            </a:r>
            <a:r>
              <a:rPr lang="en-US" altLang="zh-CN" b="1" dirty="0" err="1" smtClean="0">
                <a:solidFill>
                  <a:schemeClr val="accent1"/>
                </a:solidFill>
              </a:rPr>
              <a:t>Yes</a:t>
            </a:r>
            <a:r>
              <a:rPr lang="en-US" altLang="zh-CN" dirty="0" err="1" smtClean="0">
                <a:solidFill>
                  <a:schemeClr val="accent1"/>
                </a:solidFill>
              </a:rPr>
              <a:t>.</a:t>
            </a:r>
            <a:endParaRPr lang="en-US" altLang="zh-CN" dirty="0" err="1" smtClean="0">
              <a:solidFill>
                <a:schemeClr val="accent1"/>
              </a:solidFill>
            </a:endParaRPr>
          </a:p>
          <a:p>
            <a:pPr algn="l"/>
            <a:endParaRPr lang="en-US" altLang="zh-CN" dirty="0" err="1" smtClean="0">
              <a:solidFill>
                <a:schemeClr val="accent1"/>
              </a:solidFill>
            </a:endParaRPr>
          </a:p>
          <a:p>
            <a:pPr algn="l"/>
            <a:r>
              <a:rPr lang="en-US" altLang="zh-CN" dirty="0" err="1" smtClean="0">
                <a:solidFill>
                  <a:schemeClr val="accent1"/>
                </a:solidFill>
              </a:rPr>
              <a:t>We found a measurable signal in the noise. For a retail-level project with limited data, this is a </a:t>
            </a:r>
            <a:r>
              <a:rPr lang="en-US" altLang="zh-CN" b="1" dirty="0" err="1" smtClean="0">
                <a:solidFill>
                  <a:schemeClr val="accent1"/>
                </a:solidFill>
              </a:rPr>
              <a:t>win</a:t>
            </a:r>
            <a:r>
              <a:rPr lang="en-US" altLang="zh-CN" dirty="0" err="1" smtClean="0">
                <a:solidFill>
                  <a:schemeClr val="accent1"/>
                </a:solidFill>
              </a:rPr>
              <a:t>.</a:t>
            </a:r>
            <a:endParaRPr lang="en-US" altLang="zh-CN" dirty="0" err="1" smtClean="0">
              <a:solidFill>
                <a:schemeClr val="accent1"/>
              </a:solidFill>
            </a:endParaRPr>
          </a:p>
        </p:txBody>
      </p:sp>
      <p:pic>
        <p:nvPicPr>
          <p:cNvPr id="6" name="图片 5" descr="roc_curv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6980" y="1080135"/>
            <a:ext cx="5486400" cy="54864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09600" y="333375"/>
            <a:ext cx="10972800" cy="809625"/>
          </a:xfrm>
        </p:spPr>
        <p:txBody>
          <a:bodyPr>
            <a:noAutofit/>
          </a:bodyPr>
          <a:p>
            <a:r>
              <a:rPr lang="en-US" altLang="zh-CN" sz="4800" b="1">
                <a:solidFill>
                  <a:srgbClr val="5C52BA"/>
                </a:solidFill>
                <a:sym typeface="+mn-ea"/>
              </a:rPr>
              <a:t>Room for Improvement</a:t>
            </a:r>
            <a:endParaRPr lang="en-US" altLang="zh-CN" sz="4800" b="1">
              <a:solidFill>
                <a:srgbClr val="5C52BA"/>
              </a:solidFill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>
          <a:xfrm>
            <a:off x="609600" y="4475480"/>
            <a:ext cx="3454400" cy="1772920"/>
          </a:xfrm>
        </p:spPr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>
          <a:xfrm>
            <a:off x="914400" y="4628515"/>
            <a:ext cx="2844800" cy="406400"/>
          </a:xfrm>
        </p:spPr>
        <p:txBody>
          <a:bodyPr>
            <a:noAutofit/>
          </a:bodyPr>
          <a:p>
            <a:pPr algn="ctr"/>
            <a:r>
              <a:rPr lang="en-US" altLang="zh-CN"/>
              <a:t>Build a Real App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>
          <a:xfrm>
            <a:off x="855345" y="5034915"/>
            <a:ext cx="2963545" cy="1036320"/>
          </a:xfrm>
        </p:spPr>
        <p:txBody>
          <a:bodyPr>
            <a:noAutofit/>
          </a:bodyPr>
          <a:p>
            <a:pPr algn="ctr"/>
            <a:r>
              <a:rPr lang="en-US" altLang="zh-CN"/>
              <a:t>Move away from APIs to a proper .exe with a spinning loading screen.</a:t>
            </a:r>
            <a:endParaRPr lang="en-US" altLang="zh-CN"/>
          </a:p>
        </p:txBody>
      </p:sp>
      <p:sp>
        <p:nvSpPr>
          <p:cNvPr id="6" name="文本占位符 5"/>
          <p:cNvSpPr>
            <a:spLocks noGrp="1"/>
          </p:cNvSpPr>
          <p:nvPr>
            <p:ph type="body" idx="16393"/>
            <p:custDataLst>
              <p:tags r:id="rId5"/>
            </p:custDataLst>
          </p:nvPr>
        </p:nvSpPr>
        <p:spPr>
          <a:xfrm>
            <a:off x="4368800" y="4476115"/>
            <a:ext cx="3454400" cy="1772285"/>
          </a:xfrm>
        </p:spPr>
        <p:txBody>
          <a:bodyPr/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94"/>
            <p:custDataLst>
              <p:tags r:id="rId6"/>
            </p:custDataLst>
          </p:nvPr>
        </p:nvSpPr>
        <p:spPr>
          <a:xfrm>
            <a:off x="8128000" y="4476750"/>
            <a:ext cx="3454400" cy="1771650"/>
          </a:xfrm>
        </p:spPr>
        <p:txBody>
          <a:bodyPr/>
          <a:p>
            <a:endParaRPr lang="zh-CN" altLang="en-US"/>
          </a:p>
        </p:txBody>
      </p:sp>
      <p:sp>
        <p:nvSpPr>
          <p:cNvPr id="38" name="文本占位符 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4673600" y="4628515"/>
            <a:ext cx="28448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/>
              <a:t>New Hardware</a:t>
            </a:r>
            <a:endParaRPr lang="en-US" altLang="zh-CN"/>
          </a:p>
        </p:txBody>
      </p:sp>
      <p:sp>
        <p:nvSpPr>
          <p:cNvPr id="40" name="文本占位符 4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4614545" y="5034915"/>
            <a:ext cx="2963545" cy="10363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/>
              <a:t>Seriously, I need a GPU. Training models on a laptop CPU is painful.</a:t>
            </a:r>
            <a:endParaRPr lang="en-US" altLang="zh-CN"/>
          </a:p>
        </p:txBody>
      </p:sp>
      <p:sp>
        <p:nvSpPr>
          <p:cNvPr id="41" name="文本占位符 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433435" y="4628515"/>
            <a:ext cx="28448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/>
              <a:t>More Data</a:t>
            </a:r>
            <a:endParaRPr lang="en-US" altLang="zh-CN"/>
          </a:p>
        </p:txBody>
      </p:sp>
      <p:sp>
        <p:nvSpPr>
          <p:cNvPr id="42" name="文本占位符 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8373110" y="5034915"/>
            <a:ext cx="2963545" cy="10363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/>
              <a:t>Scrape Reddit &amp; Twitter. That's where the real volatility lives.</a:t>
            </a:r>
            <a:endParaRPr lang="en-US" altLang="zh-CN"/>
          </a:p>
        </p:txBody>
      </p:sp>
      <p:pic>
        <p:nvPicPr>
          <p:cNvPr id="43" name="图片 42" descr="buy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24045" y="1132205"/>
            <a:ext cx="3343275" cy="3343275"/>
          </a:xfrm>
          <a:prstGeom prst="rect">
            <a:avLst/>
          </a:prstGeom>
        </p:spPr>
      </p:pic>
      <p:pic>
        <p:nvPicPr>
          <p:cNvPr id="44" name="图片 43" descr="cod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1035" y="1118870"/>
            <a:ext cx="3357880" cy="3357880"/>
          </a:xfrm>
          <a:prstGeom prst="rect">
            <a:avLst/>
          </a:prstGeom>
        </p:spPr>
      </p:pic>
      <p:pic>
        <p:nvPicPr>
          <p:cNvPr id="45" name="图片 44" descr="chat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72450" y="1092835"/>
            <a:ext cx="3382645" cy="3382645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95325" y="1304925"/>
            <a:ext cx="5400675" cy="1539240"/>
          </a:xfrm>
        </p:spPr>
        <p:txBody>
          <a:bodyPr/>
          <a:p>
            <a:r>
              <a:rPr lang="en-US" altLang="zh-CN" sz="4800"/>
              <a:t>Gratitude</a:t>
            </a:r>
            <a:endParaRPr lang="en-US" altLang="zh-CN" sz="4800"/>
          </a:p>
        </p:txBody>
      </p:sp>
      <p:sp>
        <p:nvSpPr>
          <p:cNvPr id="4" name="文本框 3"/>
          <p:cNvSpPr txBox="1"/>
          <p:nvPr/>
        </p:nvSpPr>
        <p:spPr>
          <a:xfrm>
            <a:off x="695325" y="3613150"/>
            <a:ext cx="742251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400" b="1" dirty="0" err="1" smtClean="0">
                <a:solidFill>
                  <a:schemeClr val="accent1"/>
                </a:solidFill>
              </a:rPr>
              <a:t>Thank You!</a:t>
            </a:r>
            <a:endParaRPr lang="en-US" altLang="zh-CN" sz="2400" b="1" dirty="0" err="1" smtClean="0">
              <a:solidFill>
                <a:schemeClr val="accent1"/>
              </a:solidFill>
            </a:endParaRPr>
          </a:p>
          <a:p>
            <a:pPr algn="l"/>
            <a:r>
              <a:rPr lang="en-US" altLang="zh-CN" sz="2400" b="1" dirty="0" err="1" smtClean="0">
                <a:solidFill>
                  <a:schemeClr val="accent1"/>
                </a:solidFill>
              </a:rPr>
              <a:t>Mina Balasubramanian (Instructor)</a:t>
            </a:r>
            <a:endParaRPr lang="en-US" altLang="zh-CN" sz="2400" b="1" dirty="0" err="1" smtClean="0">
              <a:solidFill>
                <a:schemeClr val="accent1"/>
              </a:solidFill>
            </a:endParaRPr>
          </a:p>
          <a:p>
            <a:pPr algn="l"/>
            <a:r>
              <a:rPr lang="en-US" altLang="zh-CN" sz="2400" b="1" dirty="0" err="1" smtClean="0">
                <a:solidFill>
                  <a:schemeClr val="accent1"/>
                </a:solidFill>
              </a:rPr>
              <a:t>Trine University</a:t>
            </a:r>
            <a:endParaRPr lang="en-US" altLang="zh-CN" sz="2400" b="1" dirty="0" err="1" smtClean="0">
              <a:solidFill>
                <a:schemeClr val="accent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435" y="2791415"/>
            <a:ext cx="10800000" cy="720000"/>
          </a:xfrm>
        </p:spPr>
        <p:txBody>
          <a:bodyPr>
            <a:noAutofit/>
          </a:bodyPr>
          <a:p>
            <a:pPr algn="ctr"/>
            <a:r>
              <a:rPr lang="en-US" altLang="zh-CN" sz="4800"/>
              <a:t>Questions?</a:t>
            </a:r>
            <a:endParaRPr lang="en-US" altLang="zh-CN" sz="4800"/>
          </a:p>
        </p:txBody>
      </p:sp>
      <p:sp>
        <p:nvSpPr>
          <p:cNvPr id="4" name="文本框 3"/>
          <p:cNvSpPr txBox="1"/>
          <p:nvPr/>
        </p:nvSpPr>
        <p:spPr>
          <a:xfrm>
            <a:off x="4064000" y="5455920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dirty="0" err="1" smtClean="0">
                <a:solidFill>
                  <a:schemeClr val="accent1"/>
                </a:solidFill>
              </a:rPr>
              <a:t>Qiyun Lu | qlu24@my.trine.edu</a:t>
            </a:r>
            <a:endParaRPr lang="en-US" altLang="zh-CN" sz="1600" dirty="0" err="1" smtClean="0">
              <a:solidFill>
                <a:schemeClr val="accent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UNIT_TYPE" val="i"/>
  <p:tag name="KSO_WM_UNIT_INDEX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1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UNIT_TYPE" val="i"/>
  <p:tag name="KSO_WM_UNIT_INDEX" val="2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2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TYPE" val="f"/>
  <p:tag name="KSO_WM_UNIT_INDEX" val="1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TYPE" val="f"/>
  <p:tag name="KSO_WM_UNIT_INDEX" val="2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UNIT_VALUE" val="29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5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UNIT_TYPE" val="i"/>
  <p:tag name="KSO_WM_UNIT_INDEX" val="2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6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e7b9e01edec6efc4f0e09369955c7a467f5c771"/>
  <p:tag name="KSO_WM_NEWLAYOUT_ID" val="42"/>
</p:tagLst>
</file>

<file path=ppt/tags/tag6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7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8f47b024ae2d10730901440ec5d748b959d37a2"/>
  <p:tag name="KSO_WM_NEWLAYOUT_ID" val="102"/>
</p:tagLst>
</file>

<file path=ppt/tags/tag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CATEGORY" val="custom"/>
  <p:tag name="KSO_WM_TEMPLATE_INDEX" val="20230980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40"/>
  <p:tag name="KSO_WM_UNIT_TYPE" val="f"/>
  <p:tag name="KSO_WM_UNIT_INDEX" val="1"/>
  <p:tag name="KSO_WM_TEMPLATE_CATEGORY" val="custom"/>
  <p:tag name="KSO_WM_TEMPLATE_INDEX" val="20230980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980"/>
  <p:tag name="KSO_WM_TEMPLATE_THUMBS_INDEX" val="1、9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8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UNIT_TYPE" val="i"/>
  <p:tag name="KSO_WM_UNIT_INDEX" val="2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UNIT_TYPE" val="i"/>
  <p:tag name="KSO_WM_UNIT_INDEX" val="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10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UNIT_TYPE" val="i"/>
  <p:tag name="KSO_WM_UNIT_INDEX" val="2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10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107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TYPE" val="f"/>
  <p:tag name="KSO_WM_UNIT_INDEX" val="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TYPE" val="f"/>
  <p:tag name="KSO_WM_UNIT_INDEX" val="2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UNIT_VALUE" val="29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4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UNIT_TYPE" val="i"/>
  <p:tag name="KSO_WM_UNIT_INDEX" val="2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1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e7b9e01edec6efc4f0e09369955c7a467f5c771"/>
  <p:tag name="KSO_WM_NEWLAYOUT_ID" val="42"/>
</p:tagLst>
</file>

<file path=ppt/tags/tag14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5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5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8f47b024ae2d10730901440ec5d748b959d37a2"/>
  <p:tag name="KSO_WM_NEWLAYOUT_ID" val="102"/>
</p:tagLst>
</file>

<file path=ppt/tags/tag1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CATEGORY" val="custom"/>
  <p:tag name="KSO_WM_TEMPLATE_INDEX" val="20230980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40"/>
  <p:tag name="KSO_WM_UNIT_TYPE" val="f"/>
  <p:tag name="KSO_WM_UNIT_INDEX" val="1"/>
  <p:tag name="KSO_WM_TEMPLATE_CATEGORY" val="custom"/>
  <p:tag name="KSO_WM_TEMPLATE_INDEX" val="20230980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70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980"/>
  <p:tag name="KSO_WM_TEMPLATE_THUMBS_INDEX" val="1、9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173.xml><?xml version="1.0" encoding="utf-8"?>
<p:tagLst xmlns:p="http://schemas.openxmlformats.org/presentationml/2006/main">
  <p:tag name="KSO_WM_BEAUTIFY_FLAG" val="#wm#"/>
  <p:tag name="KSO_WM_TEMPLATE_CATEGORY" val="custom"/>
  <p:tag name="KSO_WM_TEMPLATE_INDEX" val="20230980"/>
</p:tagLst>
</file>

<file path=ppt/tags/tag17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17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8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84.xml><?xml version="1.0" encoding="utf-8"?>
<p:tagLst xmlns:p="http://schemas.openxmlformats.org/presentationml/2006/main">
  <p:tag name="KSO_WM_BEAUTIFY_FLAG" val="#wm#"/>
  <p:tag name="KSO_WM_TEMPLATE_CATEGORY" val="custom"/>
  <p:tag name="KSO_WM_TEMPLATE_INDEX" val="20230980"/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TEMPLATE_SLIDE_ID" val="slide_a736eb13ee1e7479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TYPE" val="f"/>
  <p:tag name="KSO_WM_UNIT_INDEX" val="1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TYPE" val="f"/>
  <p:tag name="KSO_WM_UNIT_INDEX" val="2"/>
</p:tagLst>
</file>

<file path=ppt/tags/tag188.xml><?xml version="1.0" encoding="utf-8"?>
<p:tagLst xmlns:p="http://schemas.openxmlformats.org/presentationml/2006/main">
  <p:tag name="KSO_WM_BEAUTIFY_FLAG" val="#wm#"/>
  <p:tag name="KSO_WM_TEMPLATE_CATEGORY" val="custom"/>
  <p:tag name="KSO_WM_TEMPLATE_INDEX" val="20230980"/>
</p:tagLst>
</file>

<file path=ppt/tags/tag18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19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9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200.xml><?xml version="1.0" encoding="utf-8"?>
<p:tagLst xmlns:p="http://schemas.openxmlformats.org/presentationml/2006/main">
  <p:tag name="KSO_WM_BEAUTIFY_FLAG" val="#wm#"/>
  <p:tag name="KSO_WM_TEMPLATE_CATEGORY" val="custom"/>
  <p:tag name="KSO_WM_TEMPLATE_INDEX" val="20230980"/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TEMPLATE_SLIDE_ID" val="slide_a736eb13ee1e7479"/>
</p:tagLst>
</file>

<file path=ppt/tags/tag201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0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0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0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11.xml><?xml version="1.0" encoding="utf-8"?>
<p:tagLst xmlns:p="http://schemas.openxmlformats.org/presentationml/2006/main">
  <p:tag name="KSO_WM_BEAUTIFY_FLAG" val="#wm#"/>
  <p:tag name="KSO_WM_TEMPLATE_CATEGORY" val="custom"/>
  <p:tag name="KSO_WM_TEMPLATE_INDEX" val="20230980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TYPE" val="f"/>
  <p:tag name="KSO_WM_UNIT_INDEX" val="1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TYPE" val="f"/>
  <p:tag name="KSO_WM_UNIT_INDEX" val="2"/>
</p:tagLst>
</file>

<file path=ppt/tags/tag215.xml><?xml version="1.0" encoding="utf-8"?>
<p:tagLst xmlns:p="http://schemas.openxmlformats.org/presentationml/2006/main">
  <p:tag name="KSO_WM_BEAUTIFY_FLAG" val="#wm#"/>
  <p:tag name="KSO_WM_TEMPLATE_CATEGORY" val="custom"/>
  <p:tag name="KSO_WM_TEMPLATE_INDEX" val="20230980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218.xml><?xml version="1.0" encoding="utf-8"?>
<p:tagLst xmlns:p="http://schemas.openxmlformats.org/presentationml/2006/main">
  <p:tag name="KSO_WM_BEAUTIFY_FLAG" val="#wm#"/>
  <p:tag name="KSO_WM_TEMPLATE_CATEGORY" val="custom"/>
  <p:tag name="KSO_WM_TEMPLATE_INDEX" val="20230980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220.xml><?xml version="1.0" encoding="utf-8"?>
<p:tagLst xmlns:p="http://schemas.openxmlformats.org/presentationml/2006/main">
  <p:tag name="KSO_WM_BEAUTIFY_FLAG" val="#wm#"/>
  <p:tag name="KSO_WM_TEMPLATE_CATEGORY" val="custom"/>
  <p:tag name="KSO_WM_TEMPLATE_INDEX" val="20230980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222.xml><?xml version="1.0" encoding="utf-8"?>
<p:tagLst xmlns:p="http://schemas.openxmlformats.org/presentationml/2006/main">
  <p:tag name="KSO_WM_BEAUTIFY_FLAG" val="#wm#"/>
  <p:tag name="KSO_WM_TEMPLATE_CATEGORY" val="custom"/>
  <p:tag name="KSO_WM_TEMPLATE_INDEX" val="20230980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225.xml><?xml version="1.0" encoding="utf-8"?>
<p:tagLst xmlns:p="http://schemas.openxmlformats.org/presentationml/2006/main">
  <p:tag name="KSO_WM_BEAUTIFY_FLAG" val="#wm#"/>
  <p:tag name="KSO_WM_TEMPLATE_CATEGORY" val="custom"/>
  <p:tag name="KSO_WM_TEMPLATE_INDEX" val="20230980"/>
</p:tagLst>
</file>

<file path=ppt/tags/tag22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e7b9e01edec6efc4f0e09369955c7a467f5c771"/>
  <p:tag name="KSO_WM_NEWLAYOUT_ID" val="42"/>
</p:tagLst>
</file>

<file path=ppt/tags/tag22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3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3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36.xml><?xml version="1.0" encoding="utf-8"?>
<p:tagLst xmlns:p="http://schemas.openxmlformats.org/presentationml/2006/main">
  <p:tag name="KSO_WM_BEAUTIFY_FLAG" val="#wm#"/>
  <p:tag name="KSO_WM_TEMPLATE_CATEGORY" val="custom"/>
  <p:tag name="KSO_WM_TEMPLATE_INDEX" val="20230980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38.xml><?xml version="1.0" encoding="utf-8"?>
<p:tagLst xmlns:p="http://schemas.openxmlformats.org/presentationml/2006/main">
  <p:tag name="KSO_WM_BEAUTIFY_FLAG" val="#wm#"/>
  <p:tag name="KSO_WM_TEMPLATE_CATEGORY" val="custom"/>
  <p:tag name="KSO_WM_TEMPLATE_INDEX" val="20230980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240.xml><?xml version="1.0" encoding="utf-8"?>
<p:tagLst xmlns:p="http://schemas.openxmlformats.org/presentationml/2006/main">
  <p:tag name="KSO_WM_BEAUTIFY_FLAG" val="#wm#"/>
  <p:tag name="KSO_WM_TEMPLATE_CATEGORY" val="custom"/>
  <p:tag name="KSO_WM_TEMPLATE_INDEX" val="20230980"/>
</p:tagLst>
</file>

<file path=ppt/theme/theme1.xml><?xml version="1.0" encoding="utf-8"?>
<a:theme xmlns:a="http://schemas.openxmlformats.org/drawingml/2006/main" name="Office 主题​​">
  <a:themeElements>
    <a:clrScheme name="自定义 115">
      <a:dk1>
        <a:srgbClr val="000000"/>
      </a:dk1>
      <a:lt1>
        <a:srgbClr val="FFFFFF"/>
      </a:lt1>
      <a:dk2>
        <a:srgbClr val="43435B"/>
      </a:dk2>
      <a:lt2>
        <a:srgbClr val="EBE9F7"/>
      </a:lt2>
      <a:accent1>
        <a:srgbClr val="5C52BA"/>
      </a:accent1>
      <a:accent2>
        <a:srgbClr val="7C65A2"/>
      </a:accent2>
      <a:accent3>
        <a:srgbClr val="9C7889"/>
      </a:accent3>
      <a:accent4>
        <a:srgbClr val="BB8A71"/>
      </a:accent4>
      <a:accent5>
        <a:srgbClr val="DB9D58"/>
      </a:accent5>
      <a:accent6>
        <a:srgbClr val="FBB040"/>
      </a:accent6>
      <a:hlink>
        <a:srgbClr val="000000"/>
      </a:hlink>
      <a:folHlink>
        <a:srgbClr val="919191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>
            <a:solidFill>
              <a:schemeClr val="accent1"/>
            </a:soli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115">
      <a:dk1>
        <a:srgbClr val="000000"/>
      </a:dk1>
      <a:lt1>
        <a:srgbClr val="FFFFFF"/>
      </a:lt1>
      <a:dk2>
        <a:srgbClr val="43435B"/>
      </a:dk2>
      <a:lt2>
        <a:srgbClr val="EBE9F7"/>
      </a:lt2>
      <a:accent1>
        <a:srgbClr val="5C52BA"/>
      </a:accent1>
      <a:accent2>
        <a:srgbClr val="7C65A2"/>
      </a:accent2>
      <a:accent3>
        <a:srgbClr val="9C7889"/>
      </a:accent3>
      <a:accent4>
        <a:srgbClr val="BB8A71"/>
      </a:accent4>
      <a:accent5>
        <a:srgbClr val="DB9D58"/>
      </a:accent5>
      <a:accent6>
        <a:srgbClr val="FBB040"/>
      </a:accent6>
      <a:hlink>
        <a:srgbClr val="000000"/>
      </a:hlink>
      <a:folHlink>
        <a:srgbClr val="919191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>
            <a:solidFill>
              <a:schemeClr val="accent1"/>
            </a:soli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2568</Words>
  <Application>WPS 演示</Application>
  <PresentationFormat>宽屏</PresentationFormat>
  <Paragraphs>148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SimSun</vt:lpstr>
      <vt:lpstr>Wingdings</vt:lpstr>
      <vt:lpstr>Microsoft YaHei</vt:lpstr>
      <vt:lpstr>Arial Unicode MS</vt:lpstr>
      <vt:lpstr>Calibri</vt:lpstr>
      <vt:lpstr>Office 主题​​</vt:lpstr>
      <vt:lpstr>1_Office 主题​​</vt:lpstr>
      <vt:lpstr>Sentiment Analysis on Public Momentum</vt:lpstr>
      <vt:lpstr>Why This Project?</vt:lpstr>
      <vt:lpstr>PowerPoint 演示文稿</vt:lpstr>
      <vt:lpstr>Why This Project?</vt:lpstr>
      <vt:lpstr>Let's tempt the demo gods...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Qiyun Lu</cp:lastModifiedBy>
  <cp:revision>39</cp:revision>
  <dcterms:created xsi:type="dcterms:W3CDTF">2023-08-09T12:44:00Z</dcterms:created>
  <dcterms:modified xsi:type="dcterms:W3CDTF">2025-12-12T07:52:52Z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B6CA221CD97647D79D913B61F4C6BA36_12</vt:lpwstr>
  </property>
</Properties>
</file>